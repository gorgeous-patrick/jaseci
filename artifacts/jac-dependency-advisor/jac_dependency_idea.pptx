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is to inspect dependencies before starting an ability body. The compiler recognizes graph queries and summarizes possible reads and writes. For an eligible queued invocation, the scheduler already knows its current node, walker, and arguments. It can run a separate, side-effect-free inspection function to resolve those accesses to actual node identities in the current graph. It then compares pending invocations and starts independent work while holding back calls that depend on earlier work. The ability itself has not started during inspection. This differs from waiting for a running body to reach its query. The graph does not have to be known at compile time: the compiler provides the inspection code, and the current runtime graph supplies the identities. Eligibility requires known query inputs and safe inspection. Summaries may be conservative, and dependencies must be refreshed when their inputs change. Existing speculative validation and ordered effects remain the correctness baseline. This is an unimplemented research proposal, not a measured speedup. Eight slides develop the argument; two appendices cover prior work and the existing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explicit numbers before discussing speculation. There is one shared node n, initially with score 10. The original serial program runs ability A first: A changes the score to 20. Ability B then reads the score and performs an expensive calculation. So the correct input to B is 20. Follow the two rows from left to right. A prepares its update, but that speculative update is still private. B reads the currently visible value, 10, and calculates using 10. Only after the speculative work completes does A publish 20 in serial commit order. When the runtime checks B's attempt, it finds that B used the old value. It discards that result and runs B again with 20. The red bracket identifies precisely the wasted attempt. Publishing means making the buffered update visible. The diagram illustrates event order and values; horizontal lengths are not measured durations. It describes the current prototype's ordered commit-time validation, not a claim that all transactional memory systems detect conflicts late. Slide 6 uses this exact example to show how inspecting dependencies before launching B can avoid the first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why Jac helps. Its built-in query explicitly provides a graph operation, an origin, a direction, and an edge type. The compiler can use this known meaning to generate a separate inspection function. The scheduler runs that function on the actual current graph before launching the ability body. For this example, B's here and query parameters are already known, so inspection finds n1 and n2. If B reads their fields, these become conservative whole-node read targets. Simply obtaining a reference does not inherently read every field: whole-node access is an initial approximation, and the compiler must also analyze how the result is used. Assignments and calls need corresponding conservative write summaries. The inspection itself has no user-visible effects; the body stays intact and is not split into a computation phase and an effect phase. Only safe, available inputs may be inspected early. Queries depending on arbitrary earlier body computation, own writes, or unknown effectful predicates need conservative treatment or the existing speculative/serial fallback. The compiler knows how to look up the nodes; only runtime inspection knows their current identities. An OOP library with equivalent semantic summaries could support the same strategy, but Jac provides a standard construct from which to derive 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three concrete queued invocations, not every ability definition in the program. An invocation includes its current node, walker, and arguments. Inspection finds that A may write n2, B may read n1 and n2, and C may write an unrelated n9. Assume no other conflicting shared state or topology changes in this example. The original order is A, B, C. Therefore B must wait for A to publish its update. A and C can compute concurrently, but C's buffered effects are still published after B. A query result alone is insufficient: the compiler must supply conservative write summaries as well, including aliases and called functions. For any pair i before j, a conservative scheduler orders them when a possible write in either call overlaps a read or write in the other. This preserves read-after-write, write-after-read, and write-after-write relationships; reads alone do not conflict. Never move a later writer before an earlier reader merely because the reader accesses its node. Use an index from stable object identities to pending readers and writers if needed; the implementation data structure is not the research claim. Query inputs, adjacency, predicate reads, and non-node state must also be covered. New calls created by visit can be inspected when the runtime has identified them; no full knowledge of future traversal is assumed.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Pre-execution inspection does not make a query result permanently valid. Suppose B's inspection finds no outgoing Edge links, but an earlier ability A adds a link to n4. B must use the updated graph in the serial program. Tracking only the originally returned nodes would miss this change because the old result was empty. Record the graph data examined at every hop, including intermediate nodes' searched adjacency and empty lookups. Conservative adjacency versions can detect insertions, deletions, and ordering changes. Also cover node and edge liveness, type matching, and all predicate inputs, including fields of rejected candidates. Intermediate query results can feed later hops inside the inspection function; the ability body need not start. When earlier work invalidates an inspection, re-run it and update scheduling dependencies before launching the body. The same rule applies if a possible writer's target set changes. Re-inspection must happen against a coherent view, and its dependencies must be registered atomically with validation or protected by an equivalent protocol; a bare version check followed by an unprotected launch is insufficient. Earlier calls whose accesses cannot be bounded retain conservative barriers or speculative validation. Keep the existing instrumentation initially, so inspection improves scheduling without being the sole correctness mechanism. The current prototype serializes graph mutation through fallback. A first performance experiment can keep topology fixed and exercise mutation/invalidation correctness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example from slide 2: n.score starts at 10, A precedes B, and B must calculate using 20. This time the compiler-generated inspection runs before either ability body starts. It finds a possible write by A to n and a possible read by B from n. The scheduler leaves B in the queue while A computes and publishes 20. B has not executed a prefix of its body and has not occupied a worker waiting at the query. After the dependency is satisfied and the inspection is validated or refreshed as necessary, B starts, reads 20, and calculates once. The red wasted attempt from slide 2 never occurs in this example. A node-field update does not necessarily change which nodes a topology-only query returns; only inspection inputs that changed require re-inspection. The body still reads the current field value after A publishes. This schedule is qualitative, not a timing measurement. Retain final validation for unknown or incompletely summarized accesses. Implementing this schedule requires dependency-aware task admission and a way to commit ready earlier work and then release dependents; the current batch-join-before-commit loop cannot simply launch a waiting dependent in that same batch. The research claim is about reduced total work after paying for inspection, not a guaranteed speedup on every workload.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is that inexpensive pre-execution inspection can save more work than it adds. Measure both sides: inspection performs graph lookups and dependency comparisons, may duplicate queries later executed by the body, and may need to run again after relevant changes. Conservative whole-node or may-write sets can also delay calls that would not actually conflict. Compare serial execution, current speculation, eager memory conflict tracking, and inspect-then-schedule under the same worker count, task boundaries, memory management, and original-order effect publication. An eager memory baseline helps separate the effect of earlier conflict detection from the specific benefit of compiler-generated graph inspection. Initially keep ordinary tracking and validation in the proposed system. Vary shared-neighbor overlap, query fan-out, computation cost, and graph mutation rate; start performance experiments with fixed topology to isolate the mechanism. Measure end-to-end time, discarded CPU work, inspector and scheduler overhead, and delays caused by conservative summaries. Fewer retries alone do not establish success if inspection or lost parallelism costs more than it saves. Reusing a query result is an optional later optimization requiring a proof that its inputs and observable order remain valid.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complete eligible graph queries, including multi-hop chains. Eligibility depends on whether query inputs can be obtained safely before the ability body starts, not on hop count. A later hop can consume an earlier hop's result entirely within the inspector. The native compiler already lowers query chains through refs and refs_many; inspector generation can reuse this query structure, while adding conservative read/write summaries and tracking graph data examined at every hop. Generate inspectors for queued native entry-ability calls and schedule before their bodies start. Preserve original-order effects and existing speculative validation. Unknown calls, accesses whose targets depend on unavailable body results, and unsupported effects keep conservative or existing fallback handling; the experiment does not require splitting general ability bodies into computation and effect phases. Check shared neighbors, aliases, read-before-write order, multiple writers, empty intermediate results, intermediate-edge changes, and predicate invalidation. Future calls produced by visit are inspected once they are known. For performance, vary hop count, fan-out, overlap, and computation cost, accounting for every inspection. The candidate research contribution is automatically generating useful dependency inspection from Jac graph syntax and integrating it with ordered walker semantics. Inspector-executor scheduling and semantic concurrency control already exist. The contribution must be established by extraction coverage, soundness, and a measured advantage over appropriate baselines, not by the scheduling pattern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belongs near inspector-executor approaches: a preliminary runtime step examines accesses or structure, and a later step performs the actual work according to that information. Saltz, Berryman, and Wu describe the value of runtime preprocessing and its integration into compilers; this is a precedent for the overall direction, not evidence for the proposed Jac implementation. Galois establishes the role of abstractions in optimistic parallelism for irregular object and graph programs. Legion uses regions and declared access privileges to expose task dependencies. Transactional boosting, listed in sources.md as additional context, uses abstract operations and commutativity for transactional objects. An OOP implementation can support similar ideas. The candidate distinction here is automatically extracting inspectors from Jac's existing query syntax, resolving them for concrete queued walker calls before body execution, and preserving the original order of effects. This is a candidate contribution rather than an established novelty claim. A deeper related-work review and a direct evaluation are still necessary. Each displayed reference links to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existing prototype is opt-in and defaults to off. It supports native AOT programs with reference counting on supported 64-bit Linux targets. It speculates across entry abilities, buffers supported effects, validates reads at ordered commit, and falls back to serial execution for unsupported operations such as graph mutation. Exit execution remains serial. The reported benchmark is the previously collected synthetic conflict-free CPU workload, not a graph-dependency experiment: 16 jobs with 6.4 million floating-point steps per job, two warm-ups and seven timed samples. Median wall times were approximately 424 ms with speculation off, 341 ms with two worker threads, and 223 ms with four, giving 1.90x at four threads. Output matched and there were 16 commits and zero fallbacks. It used native AOT, RC, optimization level 2, host libc, and a host with 16 logical CPUs. The measurements were made with the local toolchain compatibility setup described in the PR. They support feasibility of parallel execution for this synthetic kernel, not a general speedup or any claim about query-derived dependency tracking. Full samples are bundled in prototype_benchmark.json. Source checkout for this deck: commit 3c3a7ffb2.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linelibrary.wiley.com/doi/abs/10.1002/cpe.4330030607" TargetMode="External"/><Relationship Id="rId3" Type="http://schemas.openxmlformats.org/officeDocument/2006/relationships/hyperlink" Target="https://www.cs.cornell.edu/~kb/publications/Galois_PLDI07.pdf" TargetMode="External"/><Relationship Id="rId4" Type="http://schemas.openxmlformats.org/officeDocument/2006/relationships/hyperlink" Target="https://theory.stanford.edu/~aiken/publications/papers/sc12.pdf"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aseci-labs/jac/pull/9215" TargetMode="Externa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B3A"/>
        </a:solidFill>
        <a:effectLst/>
      </p:bgPr>
    </p:bg>
    <p:spTree>
      <p:nvGrpSpPr>
        <p:cNvPr id="1" name=""/>
        <p:cNvGrpSpPr/>
        <p:nvPr/>
      </p:nvGrpSpPr>
      <p:grpSpPr/>
      <p:sp>
        <p:nvSpPr>
          <p:cNvPr id="2" name="TextBox 1"/>
          <p:cNvSpPr txBox="1"/>
          <p:nvPr/>
        </p:nvSpPr>
        <p:spPr>
          <a:xfrm>
            <a:off x="660400" y="393700"/>
            <a:ext cx="106680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7CDAC6"/>
                </a:solidFill>
                <a:latin typeface="Arial"/>
              </a:rPr>
              <a:t>RESEARCH PROPOSAL  /  SEPTEMBER 2026</a:t>
            </a:r>
          </a:p>
        </p:txBody>
      </p:sp>
      <p:sp>
        <p:nvSpPr>
          <p:cNvPr id="3" name="TextBox 2"/>
          <p:cNvSpPr txBox="1"/>
          <p:nvPr/>
        </p:nvSpPr>
        <p:spPr>
          <a:xfrm>
            <a:off x="660400" y="1143000"/>
            <a:ext cx="10795000" cy="1328166"/>
          </a:xfrm>
          <a:prstGeom prst="rect">
            <a:avLst/>
          </a:prstGeom>
          <a:noFill/>
        </p:spPr>
        <p:txBody>
          <a:bodyPr wrap="none" lIns="0" rIns="0" tIns="0" bIns="0" anchor="t">
            <a:spAutoFit/>
          </a:bodyPr>
          <a:lstStyle/>
          <a:p>
            <a:pPr algn="l">
              <a:lnSpc>
                <a:spcPts val="5029"/>
              </a:lnSpc>
              <a:spcBef>
                <a:spcPts val="0"/>
              </a:spcBef>
              <a:spcAft>
                <a:spcPts val="0"/>
              </a:spcAft>
            </a:pPr>
            <a:r>
              <a:rPr sz="4700" b="1">
                <a:solidFill>
                  <a:srgbClr val="FFFFFF"/>
                </a:solidFill>
                <a:latin typeface="Arial"/>
              </a:rPr>
              <a:t>Resolve Dependencies</a:t>
            </a:r>
          </a:p>
          <a:p>
            <a:pPr algn="l">
              <a:lnSpc>
                <a:spcPts val="5029"/>
              </a:lnSpc>
              <a:spcBef>
                <a:spcPts val="0"/>
              </a:spcBef>
              <a:spcAft>
                <a:spcPts val="0"/>
              </a:spcAft>
            </a:pPr>
            <a:r>
              <a:rPr sz="4700" b="1">
                <a:solidFill>
                  <a:srgbClr val="FFFFFF"/>
                </a:solidFill>
                <a:latin typeface="Arial"/>
              </a:rPr>
              <a:t>Before Abilities Run</a:t>
            </a:r>
          </a:p>
        </p:txBody>
      </p:sp>
      <p:sp>
        <p:nvSpPr>
          <p:cNvPr id="4" name="TextBox 3"/>
          <p:cNvSpPr txBox="1"/>
          <p:nvPr/>
        </p:nvSpPr>
        <p:spPr>
          <a:xfrm>
            <a:off x="685800" y="2755900"/>
            <a:ext cx="10795000" cy="398398"/>
          </a:xfrm>
          <a:prstGeom prst="rect">
            <a:avLst/>
          </a:prstGeom>
          <a:noFill/>
        </p:spPr>
        <p:txBody>
          <a:bodyPr wrap="none" lIns="0" rIns="0" tIns="0" bIns="0" anchor="t">
            <a:spAutoFit/>
          </a:bodyPr>
          <a:lstStyle/>
          <a:p>
            <a:pPr algn="l">
              <a:lnSpc>
                <a:spcPts val="2736"/>
              </a:lnSpc>
              <a:spcBef>
                <a:spcPts val="0"/>
              </a:spcBef>
              <a:spcAft>
                <a:spcPts val="0"/>
              </a:spcAft>
            </a:pPr>
            <a:r>
              <a:rPr sz="2300" b="0">
                <a:solidFill>
                  <a:srgbClr val="D4E2E4"/>
                </a:solidFill>
                <a:latin typeface="Arial"/>
              </a:rPr>
              <a:t>Use Jac graph queries to decide which abilities can start.</a:t>
            </a:r>
          </a:p>
        </p:txBody>
      </p:sp>
      <p:sp>
        <p:nvSpPr>
          <p:cNvPr id="5" name="Rectangle 4"/>
          <p:cNvSpPr/>
          <p:nvPr/>
        </p:nvSpPr>
        <p:spPr>
          <a:xfrm>
            <a:off x="660400" y="3746500"/>
            <a:ext cx="3327400" cy="14732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3924300"/>
            <a:ext cx="457200" cy="232156"/>
          </a:xfrm>
          <a:prstGeom prst="rect">
            <a:avLst/>
          </a:prstGeom>
          <a:noFill/>
        </p:spPr>
        <p:txBody>
          <a:bodyPr wrap="none" lIns="0" rIns="0" tIns="0" bIns="0" anchor="t">
            <a:spAutoFit/>
          </a:bodyPr>
          <a:lstStyle/>
          <a:p>
            <a:pPr algn="l">
              <a:lnSpc>
                <a:spcPts val="1428"/>
              </a:lnSpc>
              <a:spcBef>
                <a:spcPts val="0"/>
              </a:spcBef>
              <a:spcAft>
                <a:spcPts val="0"/>
              </a:spcAft>
            </a:pPr>
            <a:r>
              <a:rPr sz="1200" b="1">
                <a:solidFill>
                  <a:srgbClr val="7CDAC6"/>
                </a:solidFill>
                <a:latin typeface="Arial"/>
              </a:rPr>
              <a:t>01</a:t>
            </a:r>
          </a:p>
        </p:txBody>
      </p:sp>
      <p:sp>
        <p:nvSpPr>
          <p:cNvPr id="7" name="TextBox 6"/>
          <p:cNvSpPr txBox="1"/>
          <p:nvPr/>
        </p:nvSpPr>
        <p:spPr>
          <a:xfrm>
            <a:off x="889000" y="4267200"/>
            <a:ext cx="28956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FFFFFF"/>
                </a:solidFill>
                <a:latin typeface="Arial"/>
              </a:rPr>
              <a:t>Extract accesses</a:t>
            </a:r>
          </a:p>
        </p:txBody>
      </p:sp>
      <p:sp>
        <p:nvSpPr>
          <p:cNvPr id="8" name="TextBox 7"/>
          <p:cNvSpPr txBox="1"/>
          <p:nvPr/>
        </p:nvSpPr>
        <p:spPr>
          <a:xfrm>
            <a:off x="889000" y="4673600"/>
            <a:ext cx="2895600" cy="504189"/>
          </a:xfrm>
          <a:prstGeom prst="rect">
            <a:avLst/>
          </a:prstGeom>
          <a:noFill/>
        </p:spPr>
        <p:txBody>
          <a:bodyPr wrap="none" lIns="0" rIns="0" tIns="0" bIns="0" anchor="t">
            <a:spAutoFit/>
          </a:bodyPr>
          <a:lstStyle/>
          <a:p>
            <a:pPr algn="l">
              <a:lnSpc>
                <a:spcPts val="1784"/>
              </a:lnSpc>
              <a:spcBef>
                <a:spcPts val="0"/>
              </a:spcBef>
              <a:spcAft>
                <a:spcPts val="0"/>
              </a:spcAft>
            </a:pPr>
            <a:r>
              <a:rPr sz="1500" b="0">
                <a:solidFill>
                  <a:srgbClr val="D4E2E4"/>
                </a:solidFill>
                <a:latin typeface="Arial"/>
              </a:rPr>
              <a:t>The compiler identifies queries</a:t>
            </a:r>
          </a:p>
          <a:p>
            <a:pPr algn="l">
              <a:lnSpc>
                <a:spcPts val="1784"/>
              </a:lnSpc>
              <a:spcBef>
                <a:spcPts val="0"/>
              </a:spcBef>
              <a:spcAft>
                <a:spcPts val="0"/>
              </a:spcAft>
            </a:pPr>
            <a:r>
              <a:rPr sz="1500" b="0">
                <a:solidFill>
                  <a:srgbClr val="D4E2E4"/>
                </a:solidFill>
                <a:latin typeface="Arial"/>
              </a:rPr>
              <a:t>and possible writes.</a:t>
            </a:r>
          </a:p>
        </p:txBody>
      </p:sp>
      <p:sp>
        <p:nvSpPr>
          <p:cNvPr id="9" name="Rectangle 8"/>
          <p:cNvSpPr/>
          <p:nvPr/>
        </p:nvSpPr>
        <p:spPr>
          <a:xfrm>
            <a:off x="4432300" y="3746500"/>
            <a:ext cx="3327400" cy="14732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0900" y="3924300"/>
            <a:ext cx="457200" cy="232156"/>
          </a:xfrm>
          <a:prstGeom prst="rect">
            <a:avLst/>
          </a:prstGeom>
          <a:noFill/>
        </p:spPr>
        <p:txBody>
          <a:bodyPr wrap="none" lIns="0" rIns="0" tIns="0" bIns="0" anchor="t">
            <a:spAutoFit/>
          </a:bodyPr>
          <a:lstStyle/>
          <a:p>
            <a:pPr algn="l">
              <a:lnSpc>
                <a:spcPts val="1428"/>
              </a:lnSpc>
              <a:spcBef>
                <a:spcPts val="0"/>
              </a:spcBef>
              <a:spcAft>
                <a:spcPts val="0"/>
              </a:spcAft>
            </a:pPr>
            <a:r>
              <a:rPr sz="1200" b="1">
                <a:solidFill>
                  <a:srgbClr val="7CDAC6"/>
                </a:solidFill>
                <a:latin typeface="Arial"/>
              </a:rPr>
              <a:t>02</a:t>
            </a:r>
          </a:p>
        </p:txBody>
      </p:sp>
      <p:sp>
        <p:nvSpPr>
          <p:cNvPr id="11" name="TextBox 10"/>
          <p:cNvSpPr txBox="1"/>
          <p:nvPr/>
        </p:nvSpPr>
        <p:spPr>
          <a:xfrm>
            <a:off x="4660900" y="4267200"/>
            <a:ext cx="28956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FFFFFF"/>
                </a:solidFill>
                <a:latin typeface="Arial"/>
              </a:rPr>
              <a:t>Find the nodes</a:t>
            </a:r>
          </a:p>
        </p:txBody>
      </p:sp>
      <p:sp>
        <p:nvSpPr>
          <p:cNvPr id="12" name="TextBox 11"/>
          <p:cNvSpPr txBox="1"/>
          <p:nvPr/>
        </p:nvSpPr>
        <p:spPr>
          <a:xfrm>
            <a:off x="4660900" y="4673600"/>
            <a:ext cx="2895600" cy="504189"/>
          </a:xfrm>
          <a:prstGeom prst="rect">
            <a:avLst/>
          </a:prstGeom>
          <a:noFill/>
        </p:spPr>
        <p:txBody>
          <a:bodyPr wrap="none" lIns="0" rIns="0" tIns="0" bIns="0" anchor="t">
            <a:spAutoFit/>
          </a:bodyPr>
          <a:lstStyle/>
          <a:p>
            <a:pPr algn="l">
              <a:lnSpc>
                <a:spcPts val="1784"/>
              </a:lnSpc>
              <a:spcBef>
                <a:spcPts val="0"/>
              </a:spcBef>
              <a:spcAft>
                <a:spcPts val="0"/>
              </a:spcAft>
            </a:pPr>
            <a:r>
              <a:rPr sz="1500" b="0">
                <a:solidFill>
                  <a:srgbClr val="D4E2E4"/>
                </a:solidFill>
                <a:latin typeface="Arial"/>
              </a:rPr>
              <a:t>Before the body runs, inspect the</a:t>
            </a:r>
          </a:p>
          <a:p>
            <a:pPr algn="l">
              <a:lnSpc>
                <a:spcPts val="1784"/>
              </a:lnSpc>
              <a:spcBef>
                <a:spcPts val="0"/>
              </a:spcBef>
              <a:spcAft>
                <a:spcPts val="0"/>
              </a:spcAft>
            </a:pPr>
            <a:r>
              <a:rPr sz="1500" b="0">
                <a:solidFill>
                  <a:srgbClr val="D4E2E4"/>
                </a:solidFill>
                <a:latin typeface="Arial"/>
              </a:rPr>
              <a:t>current graph.</a:t>
            </a:r>
          </a:p>
        </p:txBody>
      </p:sp>
      <p:sp>
        <p:nvSpPr>
          <p:cNvPr id="13" name="Rectangle 12"/>
          <p:cNvSpPr/>
          <p:nvPr/>
        </p:nvSpPr>
        <p:spPr>
          <a:xfrm>
            <a:off x="8204200" y="3746500"/>
            <a:ext cx="3327400" cy="14732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2800" y="3924300"/>
            <a:ext cx="457200" cy="232156"/>
          </a:xfrm>
          <a:prstGeom prst="rect">
            <a:avLst/>
          </a:prstGeom>
          <a:noFill/>
        </p:spPr>
        <p:txBody>
          <a:bodyPr wrap="none" lIns="0" rIns="0" tIns="0" bIns="0" anchor="t">
            <a:spAutoFit/>
          </a:bodyPr>
          <a:lstStyle/>
          <a:p>
            <a:pPr algn="l">
              <a:lnSpc>
                <a:spcPts val="1428"/>
              </a:lnSpc>
              <a:spcBef>
                <a:spcPts val="0"/>
              </a:spcBef>
              <a:spcAft>
                <a:spcPts val="0"/>
              </a:spcAft>
            </a:pPr>
            <a:r>
              <a:rPr sz="1200" b="1">
                <a:solidFill>
                  <a:srgbClr val="7CDAC6"/>
                </a:solidFill>
                <a:latin typeface="Arial"/>
              </a:rPr>
              <a:t>03</a:t>
            </a:r>
          </a:p>
        </p:txBody>
      </p:sp>
      <p:sp>
        <p:nvSpPr>
          <p:cNvPr id="15" name="TextBox 14"/>
          <p:cNvSpPr txBox="1"/>
          <p:nvPr/>
        </p:nvSpPr>
        <p:spPr>
          <a:xfrm>
            <a:off x="8432800" y="4267200"/>
            <a:ext cx="28956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FFFFFF"/>
                </a:solidFill>
                <a:latin typeface="Arial"/>
              </a:rPr>
              <a:t>Schedule abilities</a:t>
            </a:r>
          </a:p>
        </p:txBody>
      </p:sp>
      <p:sp>
        <p:nvSpPr>
          <p:cNvPr id="16" name="TextBox 15"/>
          <p:cNvSpPr txBox="1"/>
          <p:nvPr/>
        </p:nvSpPr>
        <p:spPr>
          <a:xfrm>
            <a:off x="8432800" y="4673600"/>
            <a:ext cx="2895600" cy="504189"/>
          </a:xfrm>
          <a:prstGeom prst="rect">
            <a:avLst/>
          </a:prstGeom>
          <a:noFill/>
        </p:spPr>
        <p:txBody>
          <a:bodyPr wrap="none" lIns="0" rIns="0" tIns="0" bIns="0" anchor="t">
            <a:spAutoFit/>
          </a:bodyPr>
          <a:lstStyle/>
          <a:p>
            <a:pPr algn="l">
              <a:lnSpc>
                <a:spcPts val="1784"/>
              </a:lnSpc>
              <a:spcBef>
                <a:spcPts val="0"/>
              </a:spcBef>
              <a:spcAft>
                <a:spcPts val="0"/>
              </a:spcAft>
            </a:pPr>
            <a:r>
              <a:rPr sz="1500" b="0">
                <a:solidFill>
                  <a:srgbClr val="D4E2E4"/>
                </a:solidFill>
                <a:latin typeface="Arial"/>
              </a:rPr>
              <a:t>Wait for earlier conflicting work.</a:t>
            </a:r>
          </a:p>
          <a:p>
            <a:pPr algn="l">
              <a:lnSpc>
                <a:spcPts val="1784"/>
              </a:lnSpc>
              <a:spcBef>
                <a:spcPts val="0"/>
              </a:spcBef>
              <a:spcAft>
                <a:spcPts val="0"/>
              </a:spcAft>
            </a:pPr>
            <a:r>
              <a:rPr sz="1500" b="0">
                <a:solidFill>
                  <a:srgbClr val="D4E2E4"/>
                </a:solidFill>
                <a:latin typeface="Arial"/>
              </a:rPr>
              <a:t>Start independent work.</a:t>
            </a:r>
          </a:p>
        </p:txBody>
      </p:sp>
      <p:cxnSp>
        <p:nvCxnSpPr>
          <p:cNvPr id="17" name="Connector 16"/>
          <p:cNvCxnSpPr/>
          <p:nvPr/>
        </p:nvCxnSpPr>
        <p:spPr>
          <a:xfrm>
            <a:off x="4025900" y="4495800"/>
            <a:ext cx="279400" cy="0"/>
          </a:xfrm>
          <a:prstGeom prst="line">
            <a:avLst/>
          </a:prstGeom>
          <a:ln w="25400">
            <a:solidFill>
              <a:srgbClr val="7CDA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97800" y="4495800"/>
            <a:ext cx="279400" cy="0"/>
          </a:xfrm>
          <a:prstGeom prst="line">
            <a:avLst/>
          </a:prstGeom>
          <a:ln w="25400">
            <a:solidFill>
              <a:srgbClr val="7CDA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60400" y="5613400"/>
            <a:ext cx="10795000" cy="368173"/>
          </a:xfrm>
          <a:prstGeom prst="rect">
            <a:avLst/>
          </a:prstGeom>
          <a:noFill/>
        </p:spPr>
        <p:txBody>
          <a:bodyPr wrap="none" lIns="0" rIns="0" tIns="0" bIns="0" anchor="t">
            <a:spAutoFit/>
          </a:bodyPr>
          <a:lstStyle/>
          <a:p>
            <a:pPr algn="l">
              <a:lnSpc>
                <a:spcPts val="2499"/>
              </a:lnSpc>
              <a:spcBef>
                <a:spcPts val="0"/>
              </a:spcBef>
              <a:spcAft>
                <a:spcPts val="0"/>
              </a:spcAft>
            </a:pPr>
            <a:r>
              <a:rPr sz="2100" b="0">
                <a:solidFill>
                  <a:srgbClr val="FFFFFF"/>
                </a:solidFill>
                <a:latin typeface="Arial"/>
              </a:rPr>
              <a:t>Can a small amount of inspection prevent a large amount of wasted computation?</a:t>
            </a:r>
          </a:p>
        </p:txBody>
      </p:sp>
      <p:cxnSp>
        <p:nvCxnSpPr>
          <p:cNvPr id="20" name="Connector 19"/>
          <p:cNvCxnSpPr/>
          <p:nvPr/>
        </p:nvCxnSpPr>
        <p:spPr>
          <a:xfrm>
            <a:off x="660400" y="6388100"/>
            <a:ext cx="10871200" cy="0"/>
          </a:xfrm>
          <a:prstGeom prst="line">
            <a:avLst/>
          </a:prstGeom>
          <a:ln w="8890">
            <a:solidFill>
              <a:srgbClr val="34505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D4E2E4"/>
                </a:solidFill>
                <a:latin typeface="Arial"/>
              </a:rPr>
              <a:t>JAC  /  QUERY-DERIVED DEPENDENCIES</a:t>
            </a:r>
          </a:p>
        </p:txBody>
      </p:sp>
      <p:sp>
        <p:nvSpPr>
          <p:cNvPr id="22" name="TextBox 21"/>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7CDAC6"/>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01 / PROBLEM</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B can finish a calculation using the wrong input.</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Two abilities share a node n. The original program runs A before B.</a:t>
            </a:r>
          </a:p>
        </p:txBody>
      </p:sp>
      <p:sp>
        <p:nvSpPr>
          <p:cNvPr id="5" name="Rectangle 4"/>
          <p:cNvSpPr/>
          <p:nvPr/>
        </p:nvSpPr>
        <p:spPr>
          <a:xfrm>
            <a:off x="660400" y="1917700"/>
            <a:ext cx="10871200" cy="9398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082800"/>
            <a:ext cx="21971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STARTING VALUE</a:t>
            </a:r>
          </a:p>
        </p:txBody>
      </p:sp>
      <p:sp>
        <p:nvSpPr>
          <p:cNvPr id="7" name="TextBox 6"/>
          <p:cNvSpPr txBox="1"/>
          <p:nvPr/>
        </p:nvSpPr>
        <p:spPr>
          <a:xfrm>
            <a:off x="889000" y="2374900"/>
            <a:ext cx="2260600" cy="35305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Consolas"/>
              </a:rPr>
              <a:t>n.score = 10</a:t>
            </a:r>
          </a:p>
        </p:txBody>
      </p:sp>
      <p:cxnSp>
        <p:nvCxnSpPr>
          <p:cNvPr id="8" name="Connector 7"/>
          <p:cNvCxnSpPr/>
          <p:nvPr/>
        </p:nvCxnSpPr>
        <p:spPr>
          <a:xfrm>
            <a:off x="3365500" y="2082800"/>
            <a:ext cx="0" cy="609600"/>
          </a:xfrm>
          <a:prstGeom prst="line">
            <a:avLst/>
          </a:prstGeom>
          <a:ln w="12700">
            <a:solidFill>
              <a:srgbClr val="D7E0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19500" y="2082800"/>
            <a:ext cx="75946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WHAT THE SERIAL PROGRAM REQUIRES</a:t>
            </a:r>
          </a:p>
        </p:txBody>
      </p:sp>
      <p:sp>
        <p:nvSpPr>
          <p:cNvPr id="10" name="TextBox 9"/>
          <p:cNvSpPr txBox="1"/>
          <p:nvPr/>
        </p:nvSpPr>
        <p:spPr>
          <a:xfrm>
            <a:off x="3619500" y="2374900"/>
            <a:ext cx="75946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142C3B"/>
                </a:solidFill>
                <a:latin typeface="Arial"/>
              </a:rPr>
              <a:t>A sets score to 20. B must calculate using 20.</a:t>
            </a:r>
          </a:p>
        </p:txBody>
      </p:sp>
      <p:sp>
        <p:nvSpPr>
          <p:cNvPr id="11" name="TextBox 10"/>
          <p:cNvSpPr txBox="1"/>
          <p:nvPr/>
        </p:nvSpPr>
        <p:spPr>
          <a:xfrm>
            <a:off x="2159000" y="3098800"/>
            <a:ext cx="7112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TIME</a:t>
            </a:r>
          </a:p>
        </p:txBody>
      </p:sp>
      <p:cxnSp>
        <p:nvCxnSpPr>
          <p:cNvPr id="12" name="Connector 11"/>
          <p:cNvCxnSpPr/>
          <p:nvPr/>
        </p:nvCxnSpPr>
        <p:spPr>
          <a:xfrm>
            <a:off x="2781300" y="3175000"/>
            <a:ext cx="8712200" cy="0"/>
          </a:xfrm>
          <a:prstGeom prst="line">
            <a:avLst/>
          </a:prstGeom>
          <a:ln w="1524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0400" y="3721100"/>
            <a:ext cx="13589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3563B2"/>
                </a:solidFill>
                <a:latin typeface="Arial"/>
              </a:rPr>
              <a:t>Writer A</a:t>
            </a:r>
          </a:p>
        </p:txBody>
      </p:sp>
      <p:sp>
        <p:nvSpPr>
          <p:cNvPr id="14" name="TextBox 13"/>
          <p:cNvSpPr txBox="1"/>
          <p:nvPr/>
        </p:nvSpPr>
        <p:spPr>
          <a:xfrm>
            <a:off x="660400" y="4826000"/>
            <a:ext cx="13589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142C3B"/>
                </a:solidFill>
                <a:latin typeface="Arial"/>
              </a:rPr>
              <a:t>Reader B</a:t>
            </a:r>
          </a:p>
        </p:txBody>
      </p:sp>
      <p:sp>
        <p:nvSpPr>
          <p:cNvPr id="15" name="Rectangle 14"/>
          <p:cNvSpPr/>
          <p:nvPr/>
        </p:nvSpPr>
        <p:spPr>
          <a:xfrm>
            <a:off x="2159000" y="3543300"/>
            <a:ext cx="2349500" cy="6985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3771900"/>
            <a:ext cx="2095500" cy="322834"/>
          </a:xfrm>
          <a:prstGeom prst="rect">
            <a:avLst/>
          </a:prstGeom>
          <a:noFill/>
        </p:spPr>
        <p:txBody>
          <a:bodyPr wrap="none" lIns="0" rIns="0" tIns="0" bIns="0" anchor="t">
            <a:spAutoFit/>
          </a:bodyPr>
          <a:lstStyle/>
          <a:p>
            <a:pPr algn="ctr">
              <a:lnSpc>
                <a:spcPts val="2142"/>
              </a:lnSpc>
              <a:spcBef>
                <a:spcPts val="0"/>
              </a:spcBef>
              <a:spcAft>
                <a:spcPts val="0"/>
              </a:spcAft>
            </a:pPr>
            <a:r>
              <a:rPr sz="1800" b="1">
                <a:solidFill>
                  <a:srgbClr val="3563B2"/>
                </a:solidFill>
                <a:latin typeface="Arial"/>
              </a:rPr>
              <a:t>Prepare 20</a:t>
            </a:r>
          </a:p>
        </p:txBody>
      </p:sp>
      <p:cxnSp>
        <p:nvCxnSpPr>
          <p:cNvPr id="17" name="Connector 16"/>
          <p:cNvCxnSpPr/>
          <p:nvPr/>
        </p:nvCxnSpPr>
        <p:spPr>
          <a:xfrm>
            <a:off x="4610100" y="3911600"/>
            <a:ext cx="2489200" cy="0"/>
          </a:xfrm>
          <a:prstGeom prst="line">
            <a:avLst/>
          </a:prstGeom>
          <a:ln w="16510">
            <a:solidFill>
              <a:srgbClr val="3563B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724400" y="3581400"/>
            <a:ext cx="2273300" cy="262382"/>
          </a:xfrm>
          <a:prstGeom prst="rect">
            <a:avLst/>
          </a:prstGeom>
          <a:noFill/>
        </p:spPr>
        <p:txBody>
          <a:bodyPr wrap="none" lIns="0" rIns="0" tIns="0" bIns="0" anchor="t">
            <a:spAutoFit/>
          </a:bodyPr>
          <a:lstStyle/>
          <a:p>
            <a:pPr algn="ctr">
              <a:lnSpc>
                <a:spcPts val="1666"/>
              </a:lnSpc>
              <a:spcBef>
                <a:spcPts val="0"/>
              </a:spcBef>
              <a:spcAft>
                <a:spcPts val="0"/>
              </a:spcAft>
            </a:pPr>
            <a:r>
              <a:rPr sz="1400" b="0">
                <a:solidFill>
                  <a:srgbClr val="576C78"/>
                </a:solidFill>
                <a:latin typeface="Arial"/>
              </a:rPr>
              <a:t>Not visible yet</a:t>
            </a:r>
          </a:p>
        </p:txBody>
      </p:sp>
      <p:sp>
        <p:nvSpPr>
          <p:cNvPr id="19" name="Rectangle 18"/>
          <p:cNvSpPr/>
          <p:nvPr/>
        </p:nvSpPr>
        <p:spPr>
          <a:xfrm>
            <a:off x="7277100" y="3543300"/>
            <a:ext cx="1701800" cy="6985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0" y="3771900"/>
            <a:ext cx="1524000" cy="322834"/>
          </a:xfrm>
          <a:prstGeom prst="rect">
            <a:avLst/>
          </a:prstGeom>
          <a:noFill/>
        </p:spPr>
        <p:txBody>
          <a:bodyPr wrap="none" lIns="0" rIns="0" tIns="0" bIns="0" anchor="t">
            <a:spAutoFit/>
          </a:bodyPr>
          <a:lstStyle/>
          <a:p>
            <a:pPr algn="ctr">
              <a:lnSpc>
                <a:spcPts val="2142"/>
              </a:lnSpc>
              <a:spcBef>
                <a:spcPts val="0"/>
              </a:spcBef>
              <a:spcAft>
                <a:spcPts val="0"/>
              </a:spcAft>
            </a:pPr>
            <a:r>
              <a:rPr sz="1800" b="1">
                <a:solidFill>
                  <a:srgbClr val="3563B2"/>
                </a:solidFill>
                <a:latin typeface="Arial"/>
              </a:rPr>
              <a:t>Publish 20</a:t>
            </a:r>
          </a:p>
        </p:txBody>
      </p:sp>
      <p:cxnSp>
        <p:nvCxnSpPr>
          <p:cNvPr id="21" name="Connector 20"/>
          <p:cNvCxnSpPr/>
          <p:nvPr/>
        </p:nvCxnSpPr>
        <p:spPr>
          <a:xfrm>
            <a:off x="8128000" y="4267200"/>
            <a:ext cx="0" cy="254000"/>
          </a:xfrm>
          <a:prstGeom prst="line">
            <a:avLst/>
          </a:prstGeom>
          <a:ln w="21590">
            <a:solidFill>
              <a:srgbClr val="356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159000" y="4597400"/>
            <a:ext cx="1536700" cy="762000"/>
          </a:xfrm>
          <a:prstGeom prst="rect">
            <a:avLst/>
          </a:prstGeom>
          <a:solidFill>
            <a:srgbClr val="FBED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60600" y="4838700"/>
            <a:ext cx="1333500" cy="322834"/>
          </a:xfrm>
          <a:prstGeom prst="rect">
            <a:avLst/>
          </a:prstGeom>
          <a:noFill/>
        </p:spPr>
        <p:txBody>
          <a:bodyPr wrap="none" lIns="0" rIns="0" tIns="0" bIns="0" anchor="t">
            <a:spAutoFit/>
          </a:bodyPr>
          <a:lstStyle/>
          <a:p>
            <a:pPr algn="ctr">
              <a:lnSpc>
                <a:spcPts val="2142"/>
              </a:lnSpc>
              <a:spcBef>
                <a:spcPts val="0"/>
              </a:spcBef>
              <a:spcAft>
                <a:spcPts val="0"/>
              </a:spcAft>
            </a:pPr>
            <a:r>
              <a:rPr sz="1800" b="1">
                <a:solidFill>
                  <a:srgbClr val="9B620F"/>
                </a:solidFill>
                <a:latin typeface="Arial"/>
              </a:rPr>
              <a:t>Read 10</a:t>
            </a:r>
          </a:p>
        </p:txBody>
      </p:sp>
      <p:cxnSp>
        <p:nvCxnSpPr>
          <p:cNvPr id="24" name="Connector 23"/>
          <p:cNvCxnSpPr/>
          <p:nvPr/>
        </p:nvCxnSpPr>
        <p:spPr>
          <a:xfrm>
            <a:off x="3759200" y="4978400"/>
            <a:ext cx="139700" cy="0"/>
          </a:xfrm>
          <a:prstGeom prst="line">
            <a:avLst/>
          </a:prstGeom>
          <a:ln w="1651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975100" y="4597400"/>
            <a:ext cx="3098800" cy="762000"/>
          </a:xfrm>
          <a:prstGeom prst="rect">
            <a:avLst/>
          </a:prstGeom>
          <a:solidFill>
            <a:srgbClr val="F8E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27500" y="4838700"/>
            <a:ext cx="2794000" cy="353059"/>
          </a:xfrm>
          <a:prstGeom prst="rect">
            <a:avLst/>
          </a:prstGeom>
          <a:noFill/>
        </p:spPr>
        <p:txBody>
          <a:bodyPr wrap="none" lIns="0" rIns="0" tIns="0" bIns="0" anchor="t">
            <a:spAutoFit/>
          </a:bodyPr>
          <a:lstStyle/>
          <a:p>
            <a:pPr algn="ctr">
              <a:lnSpc>
                <a:spcPts val="2379"/>
              </a:lnSpc>
              <a:spcBef>
                <a:spcPts val="0"/>
              </a:spcBef>
              <a:spcAft>
                <a:spcPts val="0"/>
              </a:spcAft>
            </a:pPr>
            <a:r>
              <a:rPr sz="2000" b="1">
                <a:solidFill>
                  <a:srgbClr val="AF4E43"/>
                </a:solidFill>
                <a:latin typeface="Arial"/>
              </a:rPr>
              <a:t>Calculate using 10</a:t>
            </a:r>
          </a:p>
        </p:txBody>
      </p:sp>
      <p:cxnSp>
        <p:nvCxnSpPr>
          <p:cNvPr id="27" name="Connector 26"/>
          <p:cNvCxnSpPr/>
          <p:nvPr/>
        </p:nvCxnSpPr>
        <p:spPr>
          <a:xfrm>
            <a:off x="7124700" y="4978400"/>
            <a:ext cx="114300" cy="0"/>
          </a:xfrm>
          <a:prstGeom prst="line">
            <a:avLst/>
          </a:prstGeom>
          <a:ln w="1651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277100" y="4597400"/>
            <a:ext cx="1701800" cy="762000"/>
          </a:xfrm>
          <a:prstGeom prst="rect">
            <a:avLst/>
          </a:prstGeom>
          <a:solidFill>
            <a:srgbClr val="F8E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78700" y="4737100"/>
            <a:ext cx="1498600" cy="564642"/>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AF4E43"/>
                </a:solidFill>
                <a:latin typeface="Arial"/>
              </a:rPr>
              <a:t>Discard</a:t>
            </a:r>
          </a:p>
          <a:p>
            <a:pPr algn="ctr">
              <a:lnSpc>
                <a:spcPts val="2023"/>
              </a:lnSpc>
              <a:spcBef>
                <a:spcPts val="0"/>
              </a:spcBef>
              <a:spcAft>
                <a:spcPts val="0"/>
              </a:spcAft>
            </a:pPr>
            <a:r>
              <a:rPr sz="1700" b="1">
                <a:solidFill>
                  <a:srgbClr val="AF4E43"/>
                </a:solidFill>
                <a:latin typeface="Arial"/>
              </a:rPr>
              <a:t>result</a:t>
            </a:r>
          </a:p>
        </p:txBody>
      </p:sp>
      <p:cxnSp>
        <p:nvCxnSpPr>
          <p:cNvPr id="30" name="Connector 29"/>
          <p:cNvCxnSpPr/>
          <p:nvPr/>
        </p:nvCxnSpPr>
        <p:spPr>
          <a:xfrm>
            <a:off x="9042400" y="4978400"/>
            <a:ext cx="368300" cy="0"/>
          </a:xfrm>
          <a:prstGeom prst="line">
            <a:avLst/>
          </a:prstGeom>
          <a:ln w="1651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486900" y="4597400"/>
            <a:ext cx="2044700" cy="7620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88500" y="4737100"/>
            <a:ext cx="1841500" cy="564642"/>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008577"/>
                </a:solidFill>
                <a:latin typeface="Arial"/>
              </a:rPr>
              <a:t>Recalculate</a:t>
            </a:r>
          </a:p>
          <a:p>
            <a:pPr algn="ctr">
              <a:lnSpc>
                <a:spcPts val="2023"/>
              </a:lnSpc>
              <a:spcBef>
                <a:spcPts val="0"/>
              </a:spcBef>
              <a:spcAft>
                <a:spcPts val="0"/>
              </a:spcAft>
            </a:pPr>
            <a:r>
              <a:rPr sz="1700" b="1">
                <a:solidFill>
                  <a:srgbClr val="008577"/>
                </a:solidFill>
                <a:latin typeface="Arial"/>
              </a:rPr>
              <a:t>using 20</a:t>
            </a:r>
          </a:p>
        </p:txBody>
      </p:sp>
      <p:cxnSp>
        <p:nvCxnSpPr>
          <p:cNvPr id="33" name="Connector 32"/>
          <p:cNvCxnSpPr/>
          <p:nvPr/>
        </p:nvCxnSpPr>
        <p:spPr>
          <a:xfrm>
            <a:off x="2159000" y="5473700"/>
            <a:ext cx="0" cy="76200"/>
          </a:xfrm>
          <a:prstGeom prst="line">
            <a:avLst/>
          </a:prstGeom>
          <a:ln w="17780">
            <a:solidFill>
              <a:srgbClr val="AF4E4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159000" y="5549900"/>
            <a:ext cx="4914900" cy="0"/>
          </a:xfrm>
          <a:prstGeom prst="line">
            <a:avLst/>
          </a:prstGeom>
          <a:ln w="17780">
            <a:solidFill>
              <a:srgbClr val="AF4E4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073900" y="5473700"/>
            <a:ext cx="0" cy="76200"/>
          </a:xfrm>
          <a:prstGeom prst="line">
            <a:avLst/>
          </a:prstGeom>
          <a:ln w="17780">
            <a:solidFill>
              <a:srgbClr val="AF4E4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159000" y="5664200"/>
            <a:ext cx="4927600" cy="277495"/>
          </a:xfrm>
          <a:prstGeom prst="rect">
            <a:avLst/>
          </a:prstGeom>
          <a:noFill/>
        </p:spPr>
        <p:txBody>
          <a:bodyPr wrap="none" lIns="0" rIns="0" tIns="0" bIns="0" anchor="t">
            <a:spAutoFit/>
          </a:bodyPr>
          <a:lstStyle/>
          <a:p>
            <a:pPr algn="ctr">
              <a:lnSpc>
                <a:spcPts val="1784"/>
              </a:lnSpc>
              <a:spcBef>
                <a:spcPts val="0"/>
              </a:spcBef>
              <a:spcAft>
                <a:spcPts val="0"/>
              </a:spcAft>
            </a:pPr>
            <a:r>
              <a:rPr sz="1500" b="1">
                <a:solidFill>
                  <a:srgbClr val="AF4E43"/>
                </a:solidFill>
                <a:latin typeface="Arial"/>
              </a:rPr>
              <a:t>First attempt: wasted computation</a:t>
            </a:r>
          </a:p>
        </p:txBody>
      </p:sp>
      <p:sp>
        <p:nvSpPr>
          <p:cNvPr id="37" name="TextBox 36"/>
          <p:cNvSpPr txBox="1"/>
          <p:nvPr/>
        </p:nvSpPr>
        <p:spPr>
          <a:xfrm>
            <a:off x="660400" y="6045200"/>
            <a:ext cx="10871200" cy="337947"/>
          </a:xfrm>
          <a:prstGeom prst="rect">
            <a:avLst/>
          </a:prstGeom>
          <a:noFill/>
        </p:spPr>
        <p:txBody>
          <a:bodyPr wrap="none" lIns="0" rIns="0" tIns="0" bIns="0" anchor="t">
            <a:spAutoFit/>
          </a:bodyPr>
          <a:lstStyle/>
          <a:p>
            <a:pPr algn="l">
              <a:lnSpc>
                <a:spcPts val="2261"/>
              </a:lnSpc>
              <a:spcBef>
                <a:spcPts val="0"/>
              </a:spcBef>
              <a:spcAft>
                <a:spcPts val="0"/>
              </a:spcAft>
            </a:pPr>
            <a:r>
              <a:rPr sz="1900" b="1">
                <a:solidFill>
                  <a:srgbClr val="142C3B"/>
                </a:solidFill>
                <a:latin typeface="Arial"/>
              </a:rPr>
              <a:t>The input was 10. The required input was 20. B has to calculate again.</a:t>
            </a:r>
          </a:p>
        </p:txBody>
      </p:sp>
      <p:cxnSp>
        <p:nvCxnSpPr>
          <p:cNvPr id="38" name="Connector 37"/>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40" name="TextBox 39"/>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02 / IDEA</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Run a small inspection before the ability body.</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For queries whose starting node and parameters are already known.</a:t>
            </a:r>
          </a:p>
        </p:txBody>
      </p:sp>
      <p:sp>
        <p:nvSpPr>
          <p:cNvPr id="5" name="Rectangle 4"/>
          <p:cNvSpPr/>
          <p:nvPr/>
        </p:nvSpPr>
        <p:spPr>
          <a:xfrm>
            <a:off x="660400" y="2146300"/>
            <a:ext cx="5118100" cy="3594100"/>
          </a:xfrm>
          <a:prstGeom prst="rect">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7100" y="2400300"/>
            <a:ext cx="45593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7CDAC6"/>
                </a:solidFill>
                <a:latin typeface="Arial"/>
              </a:rPr>
              <a:t>IN THE COMPILER</a:t>
            </a:r>
          </a:p>
        </p:txBody>
      </p:sp>
      <p:sp>
        <p:nvSpPr>
          <p:cNvPr id="7" name="TextBox 6"/>
          <p:cNvSpPr txBox="1"/>
          <p:nvPr/>
        </p:nvSpPr>
        <p:spPr>
          <a:xfrm>
            <a:off x="927100" y="2844800"/>
            <a:ext cx="45593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FFFFFF"/>
                </a:solidFill>
                <a:latin typeface="Arial"/>
              </a:rPr>
              <a:t>Recognize B’s graph query:</a:t>
            </a:r>
          </a:p>
        </p:txBody>
      </p:sp>
      <p:sp>
        <p:nvSpPr>
          <p:cNvPr id="8" name="TextBox 7"/>
          <p:cNvSpPr txBox="1"/>
          <p:nvPr/>
        </p:nvSpPr>
        <p:spPr>
          <a:xfrm>
            <a:off x="927100" y="3378200"/>
            <a:ext cx="4559300" cy="519303"/>
          </a:xfrm>
          <a:prstGeom prst="rect">
            <a:avLst/>
          </a:prstGeom>
          <a:noFill/>
        </p:spPr>
        <p:txBody>
          <a:bodyPr wrap="none" lIns="0" rIns="0" tIns="0" bIns="0" anchor="t">
            <a:spAutoFit/>
          </a:bodyPr>
          <a:lstStyle/>
          <a:p>
            <a:pPr algn="l">
              <a:lnSpc>
                <a:spcPts val="3689"/>
              </a:lnSpc>
              <a:spcBef>
                <a:spcPts val="0"/>
              </a:spcBef>
              <a:spcAft>
                <a:spcPts val="0"/>
              </a:spcAft>
            </a:pPr>
            <a:r>
              <a:rPr sz="3100" b="0">
                <a:solidFill>
                  <a:srgbClr val="FFFFFF"/>
                </a:solidFill>
                <a:latin typeface="Consolas"/>
              </a:rPr>
              <a:t>[-&gt;:Edge:-&gt;]</a:t>
            </a:r>
          </a:p>
        </p:txBody>
      </p:sp>
      <p:sp>
        <p:nvSpPr>
          <p:cNvPr id="9" name="TextBox 8"/>
          <p:cNvSpPr txBox="1"/>
          <p:nvPr/>
        </p:nvSpPr>
        <p:spPr>
          <a:xfrm>
            <a:off x="927100" y="4140200"/>
            <a:ext cx="4559300" cy="65531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FFFFFF"/>
                </a:solidFill>
                <a:latin typeface="Arial"/>
              </a:rPr>
              <a:t>Generate a separate function that</a:t>
            </a:r>
          </a:p>
          <a:p>
            <a:pPr algn="l">
              <a:lnSpc>
                <a:spcPts val="2379"/>
              </a:lnSpc>
              <a:spcBef>
                <a:spcPts val="0"/>
              </a:spcBef>
              <a:spcAft>
                <a:spcPts val="0"/>
              </a:spcAft>
            </a:pPr>
            <a:r>
              <a:rPr sz="2000" b="0">
                <a:solidFill>
                  <a:srgbClr val="FFFFFF"/>
                </a:solidFill>
                <a:latin typeface="Arial"/>
              </a:rPr>
              <a:t>finds B’s possible read/write targets.</a:t>
            </a:r>
          </a:p>
        </p:txBody>
      </p:sp>
      <p:sp>
        <p:nvSpPr>
          <p:cNvPr id="10" name="TextBox 9"/>
          <p:cNvSpPr txBox="1"/>
          <p:nvPr/>
        </p:nvSpPr>
        <p:spPr>
          <a:xfrm>
            <a:off x="927100" y="5321300"/>
            <a:ext cx="4559300" cy="292608"/>
          </a:xfrm>
          <a:prstGeom prst="rect">
            <a:avLst/>
          </a:prstGeom>
          <a:noFill/>
        </p:spPr>
        <p:txBody>
          <a:bodyPr wrap="none" lIns="0" rIns="0" tIns="0" bIns="0" anchor="t">
            <a:spAutoFit/>
          </a:bodyPr>
          <a:lstStyle/>
          <a:p>
            <a:pPr algn="l">
              <a:lnSpc>
                <a:spcPts val="1904"/>
              </a:lnSpc>
              <a:spcBef>
                <a:spcPts val="0"/>
              </a:spcBef>
              <a:spcAft>
                <a:spcPts val="0"/>
              </a:spcAft>
            </a:pPr>
            <a:r>
              <a:rPr sz="1600" b="1">
                <a:solidFill>
                  <a:srgbClr val="7CDAC6"/>
                </a:solidFill>
                <a:latin typeface="Arial"/>
              </a:rPr>
              <a:t>The ability body stays intact.</a:t>
            </a:r>
          </a:p>
        </p:txBody>
      </p:sp>
      <p:cxnSp>
        <p:nvCxnSpPr>
          <p:cNvPr id="11" name="Connector 10"/>
          <p:cNvCxnSpPr/>
          <p:nvPr/>
        </p:nvCxnSpPr>
        <p:spPr>
          <a:xfrm>
            <a:off x="5905500" y="3848100"/>
            <a:ext cx="254000" cy="0"/>
          </a:xfrm>
          <a:prstGeom prst="line">
            <a:avLst/>
          </a:prstGeom>
          <a:ln w="30480">
            <a:solidFill>
              <a:srgbClr val="008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86500" y="2146300"/>
            <a:ext cx="5245100" cy="35941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0500" y="2400300"/>
            <a:ext cx="46990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008577"/>
                </a:solidFill>
                <a:latin typeface="Arial"/>
              </a:rPr>
              <a:t>IN THE SCHEDULER — BEFORE B STARTS</a:t>
            </a:r>
          </a:p>
        </p:txBody>
      </p:sp>
      <p:sp>
        <p:nvSpPr>
          <p:cNvPr id="14" name="TextBox 13"/>
          <p:cNvSpPr txBox="1"/>
          <p:nvPr/>
        </p:nvSpPr>
        <p:spPr>
          <a:xfrm>
            <a:off x="6540500" y="2857500"/>
            <a:ext cx="46990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142C3B"/>
                </a:solidFill>
                <a:latin typeface="Arial"/>
              </a:rPr>
              <a:t>B’s current node is known.</a:t>
            </a:r>
          </a:p>
        </p:txBody>
      </p:sp>
      <p:sp>
        <p:nvSpPr>
          <p:cNvPr id="15" name="TextBox 14"/>
          <p:cNvSpPr txBox="1"/>
          <p:nvPr/>
        </p:nvSpPr>
        <p:spPr>
          <a:xfrm>
            <a:off x="6540500" y="3390900"/>
            <a:ext cx="46990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Inspect its outgoing Edge links:</a:t>
            </a:r>
          </a:p>
        </p:txBody>
      </p:sp>
      <p:sp>
        <p:nvSpPr>
          <p:cNvPr id="16" name="Rectangle 15"/>
          <p:cNvSpPr/>
          <p:nvPr/>
        </p:nvSpPr>
        <p:spPr>
          <a:xfrm>
            <a:off x="6540500" y="3924300"/>
            <a:ext cx="4724400" cy="9779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9100" y="4114800"/>
            <a:ext cx="42672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008577"/>
                </a:solidFill>
                <a:latin typeface="Arial"/>
              </a:rPr>
              <a:t>The query finds n1 and n2.</a:t>
            </a:r>
          </a:p>
        </p:txBody>
      </p:sp>
      <p:sp>
        <p:nvSpPr>
          <p:cNvPr id="18" name="TextBox 17"/>
          <p:cNvSpPr txBox="1"/>
          <p:nvPr/>
        </p:nvSpPr>
        <p:spPr>
          <a:xfrm>
            <a:off x="6769100" y="4546600"/>
            <a:ext cx="4267200" cy="292608"/>
          </a:xfrm>
          <a:prstGeom prst="rect">
            <a:avLst/>
          </a:prstGeom>
          <a:noFill/>
        </p:spPr>
        <p:txBody>
          <a:bodyPr wrap="none" lIns="0" rIns="0" tIns="0" bIns="0" anchor="t">
            <a:spAutoFit/>
          </a:bodyPr>
          <a:lstStyle/>
          <a:p>
            <a:pPr algn="l">
              <a:lnSpc>
                <a:spcPts val="1904"/>
              </a:lnSpc>
              <a:spcBef>
                <a:spcPts val="0"/>
              </a:spcBef>
              <a:spcAft>
                <a:spcPts val="0"/>
              </a:spcAft>
            </a:pPr>
            <a:r>
              <a:rPr sz="1600" b="0">
                <a:solidFill>
                  <a:srgbClr val="142C3B"/>
                </a:solidFill>
                <a:latin typeface="Arial"/>
              </a:rPr>
              <a:t>B may read these nodes.</a:t>
            </a:r>
          </a:p>
        </p:txBody>
      </p:sp>
      <p:sp>
        <p:nvSpPr>
          <p:cNvPr id="19" name="TextBox 18"/>
          <p:cNvSpPr txBox="1"/>
          <p:nvPr/>
        </p:nvSpPr>
        <p:spPr>
          <a:xfrm>
            <a:off x="6540500" y="5321300"/>
            <a:ext cx="4711700" cy="292608"/>
          </a:xfrm>
          <a:prstGeom prst="rect">
            <a:avLst/>
          </a:prstGeom>
          <a:noFill/>
        </p:spPr>
        <p:txBody>
          <a:bodyPr wrap="none" lIns="0" rIns="0" tIns="0" bIns="0" anchor="t">
            <a:spAutoFit/>
          </a:bodyPr>
          <a:lstStyle/>
          <a:p>
            <a:pPr algn="l">
              <a:lnSpc>
                <a:spcPts val="1904"/>
              </a:lnSpc>
              <a:spcBef>
                <a:spcPts val="0"/>
              </a:spcBef>
              <a:spcAft>
                <a:spcPts val="0"/>
              </a:spcAft>
            </a:pPr>
            <a:r>
              <a:rPr sz="1600" b="1">
                <a:solidFill>
                  <a:srgbClr val="008577"/>
                </a:solidFill>
                <a:latin typeface="Arial"/>
              </a:rPr>
              <a:t>B has not started its computation.</a:t>
            </a:r>
          </a:p>
        </p:txBody>
      </p:sp>
      <p:sp>
        <p:nvSpPr>
          <p:cNvPr id="20" name="TextBox 19"/>
          <p:cNvSpPr txBox="1"/>
          <p:nvPr/>
        </p:nvSpPr>
        <p:spPr>
          <a:xfrm>
            <a:off x="660400" y="6019800"/>
            <a:ext cx="10871200" cy="337947"/>
          </a:xfrm>
          <a:prstGeom prst="rect">
            <a:avLst/>
          </a:prstGeom>
          <a:noFill/>
        </p:spPr>
        <p:txBody>
          <a:bodyPr wrap="none" lIns="0" rIns="0" tIns="0" bIns="0" anchor="t">
            <a:spAutoFit/>
          </a:bodyPr>
          <a:lstStyle/>
          <a:p>
            <a:pPr algn="l">
              <a:lnSpc>
                <a:spcPts val="2261"/>
              </a:lnSpc>
              <a:spcBef>
                <a:spcPts val="0"/>
              </a:spcBef>
              <a:spcAft>
                <a:spcPts val="0"/>
              </a:spcAft>
            </a:pPr>
            <a:r>
              <a:rPr sz="1900" b="1">
                <a:solidFill>
                  <a:srgbClr val="142C3B"/>
                </a:solidFill>
                <a:latin typeface="Arial"/>
              </a:rPr>
              <a:t>Jac’s built-in query tells the compiler how to find the relevant nodes.</a:t>
            </a:r>
          </a:p>
        </p:txBody>
      </p:sp>
      <p:cxnSp>
        <p:nvCxnSpPr>
          <p:cNvPr id="21" name="Connector 20"/>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23" name="TextBox 22"/>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03 / SCHEDULING</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Match reads with writes before choosing what starts.</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Three queued ability calls. Their original serial order is A, then B, then C.</a:t>
            </a:r>
          </a:p>
        </p:txBody>
      </p:sp>
      <p:sp>
        <p:nvSpPr>
          <p:cNvPr id="5" name="Rectangle 4"/>
          <p:cNvSpPr/>
          <p:nvPr/>
        </p:nvSpPr>
        <p:spPr>
          <a:xfrm>
            <a:off x="660400" y="2159000"/>
            <a:ext cx="6400800" cy="3568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800" y="2413000"/>
            <a:ext cx="58166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008577"/>
                </a:solidFill>
                <a:latin typeface="Arial"/>
              </a:rPr>
              <a:t>INSPECTED NODE ACCESSES</a:t>
            </a:r>
          </a:p>
        </p:txBody>
      </p:sp>
      <p:sp>
        <p:nvSpPr>
          <p:cNvPr id="7" name="TextBox 6"/>
          <p:cNvSpPr txBox="1"/>
          <p:nvPr/>
        </p:nvSpPr>
        <p:spPr>
          <a:xfrm>
            <a:off x="939800" y="2959100"/>
            <a:ext cx="1397000" cy="292608"/>
          </a:xfrm>
          <a:prstGeom prst="rect">
            <a:avLst/>
          </a:prstGeom>
          <a:noFill/>
        </p:spPr>
        <p:txBody>
          <a:bodyPr wrap="none" lIns="0" rIns="0" tIns="0" bIns="0" anchor="t">
            <a:spAutoFit/>
          </a:bodyPr>
          <a:lstStyle/>
          <a:p>
            <a:pPr algn="l">
              <a:lnSpc>
                <a:spcPts val="1904"/>
              </a:lnSpc>
              <a:spcBef>
                <a:spcPts val="0"/>
              </a:spcBef>
              <a:spcAft>
                <a:spcPts val="0"/>
              </a:spcAft>
            </a:pPr>
            <a:r>
              <a:rPr sz="1600" b="1">
                <a:solidFill>
                  <a:srgbClr val="576C78"/>
                </a:solidFill>
                <a:latin typeface="Arial"/>
              </a:rPr>
              <a:t>Call</a:t>
            </a:r>
          </a:p>
        </p:txBody>
      </p:sp>
      <p:sp>
        <p:nvSpPr>
          <p:cNvPr id="8" name="TextBox 7"/>
          <p:cNvSpPr txBox="1"/>
          <p:nvPr/>
        </p:nvSpPr>
        <p:spPr>
          <a:xfrm>
            <a:off x="2857500" y="2959100"/>
            <a:ext cx="2095500" cy="292608"/>
          </a:xfrm>
          <a:prstGeom prst="rect">
            <a:avLst/>
          </a:prstGeom>
          <a:noFill/>
        </p:spPr>
        <p:txBody>
          <a:bodyPr wrap="none" lIns="0" rIns="0" tIns="0" bIns="0" anchor="t">
            <a:spAutoFit/>
          </a:bodyPr>
          <a:lstStyle/>
          <a:p>
            <a:pPr algn="l">
              <a:lnSpc>
                <a:spcPts val="1904"/>
              </a:lnSpc>
              <a:spcBef>
                <a:spcPts val="0"/>
              </a:spcBef>
              <a:spcAft>
                <a:spcPts val="0"/>
              </a:spcAft>
            </a:pPr>
            <a:r>
              <a:rPr sz="1600" b="1">
                <a:solidFill>
                  <a:srgbClr val="576C78"/>
                </a:solidFill>
                <a:latin typeface="Arial"/>
              </a:rPr>
              <a:t>May read</a:t>
            </a:r>
          </a:p>
        </p:txBody>
      </p:sp>
      <p:sp>
        <p:nvSpPr>
          <p:cNvPr id="9" name="TextBox 8"/>
          <p:cNvSpPr txBox="1"/>
          <p:nvPr/>
        </p:nvSpPr>
        <p:spPr>
          <a:xfrm>
            <a:off x="5232400" y="2959100"/>
            <a:ext cx="1536700" cy="292608"/>
          </a:xfrm>
          <a:prstGeom prst="rect">
            <a:avLst/>
          </a:prstGeom>
          <a:noFill/>
        </p:spPr>
        <p:txBody>
          <a:bodyPr wrap="none" lIns="0" rIns="0" tIns="0" bIns="0" anchor="t">
            <a:spAutoFit/>
          </a:bodyPr>
          <a:lstStyle/>
          <a:p>
            <a:pPr algn="l">
              <a:lnSpc>
                <a:spcPts val="1904"/>
              </a:lnSpc>
              <a:spcBef>
                <a:spcPts val="0"/>
              </a:spcBef>
              <a:spcAft>
                <a:spcPts val="0"/>
              </a:spcAft>
            </a:pPr>
            <a:r>
              <a:rPr sz="1600" b="1">
                <a:solidFill>
                  <a:srgbClr val="576C78"/>
                </a:solidFill>
                <a:latin typeface="Arial"/>
              </a:rPr>
              <a:t>May write</a:t>
            </a:r>
          </a:p>
        </p:txBody>
      </p:sp>
      <p:sp>
        <p:nvSpPr>
          <p:cNvPr id="10" name="Rectangle 9"/>
          <p:cNvSpPr/>
          <p:nvPr/>
        </p:nvSpPr>
        <p:spPr>
          <a:xfrm>
            <a:off x="850900" y="3390900"/>
            <a:ext cx="6019800" cy="4953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 y="3492500"/>
            <a:ext cx="12700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142C3B"/>
                </a:solidFill>
                <a:latin typeface="Arial"/>
              </a:rPr>
              <a:t>A</a:t>
            </a:r>
          </a:p>
        </p:txBody>
      </p:sp>
      <p:sp>
        <p:nvSpPr>
          <p:cNvPr id="12" name="TextBox 11"/>
          <p:cNvSpPr txBox="1"/>
          <p:nvPr/>
        </p:nvSpPr>
        <p:spPr>
          <a:xfrm>
            <a:off x="2857500" y="3505200"/>
            <a:ext cx="20828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a:t>
            </a:r>
          </a:p>
        </p:txBody>
      </p:sp>
      <p:sp>
        <p:nvSpPr>
          <p:cNvPr id="13" name="TextBox 12"/>
          <p:cNvSpPr txBox="1"/>
          <p:nvPr/>
        </p:nvSpPr>
        <p:spPr>
          <a:xfrm>
            <a:off x="5232400" y="3505200"/>
            <a:ext cx="15113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n2</a:t>
            </a:r>
          </a:p>
        </p:txBody>
      </p:sp>
      <p:sp>
        <p:nvSpPr>
          <p:cNvPr id="14" name="Rectangle 13"/>
          <p:cNvSpPr/>
          <p:nvPr/>
        </p:nvSpPr>
        <p:spPr>
          <a:xfrm>
            <a:off x="850900" y="3949700"/>
            <a:ext cx="6019800" cy="4953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4051300"/>
            <a:ext cx="12700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142C3B"/>
                </a:solidFill>
                <a:latin typeface="Arial"/>
              </a:rPr>
              <a:t>B</a:t>
            </a:r>
          </a:p>
        </p:txBody>
      </p:sp>
      <p:sp>
        <p:nvSpPr>
          <p:cNvPr id="16" name="TextBox 15"/>
          <p:cNvSpPr txBox="1"/>
          <p:nvPr/>
        </p:nvSpPr>
        <p:spPr>
          <a:xfrm>
            <a:off x="2857500" y="4064000"/>
            <a:ext cx="20828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n1, n2</a:t>
            </a:r>
          </a:p>
        </p:txBody>
      </p:sp>
      <p:sp>
        <p:nvSpPr>
          <p:cNvPr id="17" name="TextBox 16"/>
          <p:cNvSpPr txBox="1"/>
          <p:nvPr/>
        </p:nvSpPr>
        <p:spPr>
          <a:xfrm>
            <a:off x="5232400" y="4064000"/>
            <a:ext cx="15113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a:t>
            </a:r>
          </a:p>
        </p:txBody>
      </p:sp>
      <p:sp>
        <p:nvSpPr>
          <p:cNvPr id="18" name="Rectangle 17"/>
          <p:cNvSpPr/>
          <p:nvPr/>
        </p:nvSpPr>
        <p:spPr>
          <a:xfrm>
            <a:off x="850900" y="4508500"/>
            <a:ext cx="6019800" cy="495300"/>
          </a:xfrm>
          <a:prstGeom prst="rect">
            <a:avLst/>
          </a:prstGeom>
          <a:solidFill>
            <a:srgbClr val="EB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8700" y="4610100"/>
            <a:ext cx="12700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142C3B"/>
                </a:solidFill>
                <a:latin typeface="Arial"/>
              </a:rPr>
              <a:t>C</a:t>
            </a:r>
          </a:p>
        </p:txBody>
      </p:sp>
      <p:sp>
        <p:nvSpPr>
          <p:cNvPr id="20" name="TextBox 19"/>
          <p:cNvSpPr txBox="1"/>
          <p:nvPr/>
        </p:nvSpPr>
        <p:spPr>
          <a:xfrm>
            <a:off x="2857500" y="4622800"/>
            <a:ext cx="20828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a:t>
            </a:r>
          </a:p>
        </p:txBody>
      </p:sp>
      <p:sp>
        <p:nvSpPr>
          <p:cNvPr id="21" name="TextBox 20"/>
          <p:cNvSpPr txBox="1"/>
          <p:nvPr/>
        </p:nvSpPr>
        <p:spPr>
          <a:xfrm>
            <a:off x="5232400" y="4622800"/>
            <a:ext cx="15113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n9</a:t>
            </a:r>
          </a:p>
        </p:txBody>
      </p:sp>
      <p:sp>
        <p:nvSpPr>
          <p:cNvPr id="22" name="TextBox 21"/>
          <p:cNvSpPr txBox="1"/>
          <p:nvPr/>
        </p:nvSpPr>
        <p:spPr>
          <a:xfrm>
            <a:off x="939800" y="5283200"/>
            <a:ext cx="5816600" cy="322834"/>
          </a:xfrm>
          <a:prstGeom prst="rect">
            <a:avLst/>
          </a:prstGeom>
          <a:noFill/>
        </p:spPr>
        <p:txBody>
          <a:bodyPr wrap="none" lIns="0" rIns="0" tIns="0" bIns="0" anchor="t">
            <a:spAutoFit/>
          </a:bodyPr>
          <a:lstStyle/>
          <a:p>
            <a:pPr algn="l">
              <a:lnSpc>
                <a:spcPts val="2142"/>
              </a:lnSpc>
              <a:spcBef>
                <a:spcPts val="0"/>
              </a:spcBef>
              <a:spcAft>
                <a:spcPts val="0"/>
              </a:spcAft>
            </a:pPr>
            <a:r>
              <a:rPr sz="1800" b="1">
                <a:solidFill>
                  <a:srgbClr val="142C3B"/>
                </a:solidFill>
                <a:latin typeface="Arial"/>
              </a:rPr>
              <a:t>B needs n2. A will change n2 first.</a:t>
            </a:r>
          </a:p>
        </p:txBody>
      </p:sp>
      <p:sp>
        <p:nvSpPr>
          <p:cNvPr id="23" name="Rectangle 22"/>
          <p:cNvSpPr/>
          <p:nvPr/>
        </p:nvSpPr>
        <p:spPr>
          <a:xfrm>
            <a:off x="7378700" y="2159000"/>
            <a:ext cx="4152900" cy="3568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8100" y="2413000"/>
            <a:ext cx="35941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008577"/>
                </a:solidFill>
                <a:latin typeface="Arial"/>
              </a:rPr>
              <a:t>START A AND C TOGETHER</a:t>
            </a:r>
          </a:p>
        </p:txBody>
      </p:sp>
      <p:sp>
        <p:nvSpPr>
          <p:cNvPr id="25" name="Rectangle 24"/>
          <p:cNvSpPr/>
          <p:nvPr/>
        </p:nvSpPr>
        <p:spPr>
          <a:xfrm>
            <a:off x="7658100" y="3009900"/>
            <a:ext cx="1587500" cy="6477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85100" y="3162300"/>
            <a:ext cx="1333500" cy="398398"/>
          </a:xfrm>
          <a:prstGeom prst="rect">
            <a:avLst/>
          </a:prstGeom>
          <a:noFill/>
        </p:spPr>
        <p:txBody>
          <a:bodyPr wrap="none" lIns="0" rIns="0" tIns="0" bIns="0" anchor="t">
            <a:spAutoFit/>
          </a:bodyPr>
          <a:lstStyle/>
          <a:p>
            <a:pPr algn="ctr">
              <a:lnSpc>
                <a:spcPts val="2736"/>
              </a:lnSpc>
              <a:spcBef>
                <a:spcPts val="0"/>
              </a:spcBef>
              <a:spcAft>
                <a:spcPts val="0"/>
              </a:spcAft>
            </a:pPr>
            <a:r>
              <a:rPr sz="2300" b="1">
                <a:solidFill>
                  <a:srgbClr val="3563B2"/>
                </a:solidFill>
                <a:latin typeface="Arial"/>
              </a:rPr>
              <a:t>A</a:t>
            </a:r>
          </a:p>
        </p:txBody>
      </p:sp>
      <p:sp>
        <p:nvSpPr>
          <p:cNvPr id="27" name="Rectangle 26"/>
          <p:cNvSpPr/>
          <p:nvPr/>
        </p:nvSpPr>
        <p:spPr>
          <a:xfrm>
            <a:off x="9639300" y="3009900"/>
            <a:ext cx="1587500" cy="6477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6300" y="3162300"/>
            <a:ext cx="1333500" cy="398398"/>
          </a:xfrm>
          <a:prstGeom prst="rect">
            <a:avLst/>
          </a:prstGeom>
          <a:noFill/>
        </p:spPr>
        <p:txBody>
          <a:bodyPr wrap="none" lIns="0" rIns="0" tIns="0" bIns="0" anchor="t">
            <a:spAutoFit/>
          </a:bodyPr>
          <a:lstStyle/>
          <a:p>
            <a:pPr algn="ctr">
              <a:lnSpc>
                <a:spcPts val="2736"/>
              </a:lnSpc>
              <a:spcBef>
                <a:spcPts val="0"/>
              </a:spcBef>
              <a:spcAft>
                <a:spcPts val="0"/>
              </a:spcAft>
            </a:pPr>
            <a:r>
              <a:rPr sz="2300" b="1">
                <a:solidFill>
                  <a:srgbClr val="008577"/>
                </a:solidFill>
                <a:latin typeface="Arial"/>
              </a:rPr>
              <a:t>C</a:t>
            </a:r>
          </a:p>
        </p:txBody>
      </p:sp>
      <p:cxnSp>
        <p:nvCxnSpPr>
          <p:cNvPr id="29" name="Connector 28"/>
          <p:cNvCxnSpPr/>
          <p:nvPr/>
        </p:nvCxnSpPr>
        <p:spPr>
          <a:xfrm>
            <a:off x="8445500" y="3733800"/>
            <a:ext cx="0" cy="698500"/>
          </a:xfrm>
          <a:prstGeom prst="line">
            <a:avLst/>
          </a:prstGeom>
          <a:ln w="25400">
            <a:solidFill>
              <a:srgbClr val="356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724900" y="3937000"/>
            <a:ext cx="24257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3563B2"/>
                </a:solidFill>
                <a:latin typeface="Arial"/>
              </a:rPr>
              <a:t>A publishes</a:t>
            </a:r>
          </a:p>
        </p:txBody>
      </p:sp>
      <p:sp>
        <p:nvSpPr>
          <p:cNvPr id="31" name="Rectangle 30"/>
          <p:cNvSpPr/>
          <p:nvPr/>
        </p:nvSpPr>
        <p:spPr>
          <a:xfrm>
            <a:off x="7658100" y="4508500"/>
            <a:ext cx="1587500" cy="6477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85100" y="4660900"/>
            <a:ext cx="1333500" cy="398398"/>
          </a:xfrm>
          <a:prstGeom prst="rect">
            <a:avLst/>
          </a:prstGeom>
          <a:noFill/>
        </p:spPr>
        <p:txBody>
          <a:bodyPr wrap="none" lIns="0" rIns="0" tIns="0" bIns="0" anchor="t">
            <a:spAutoFit/>
          </a:bodyPr>
          <a:lstStyle/>
          <a:p>
            <a:pPr algn="ctr">
              <a:lnSpc>
                <a:spcPts val="2736"/>
              </a:lnSpc>
              <a:spcBef>
                <a:spcPts val="0"/>
              </a:spcBef>
              <a:spcAft>
                <a:spcPts val="0"/>
              </a:spcAft>
            </a:pPr>
            <a:r>
              <a:rPr sz="2300" b="1">
                <a:solidFill>
                  <a:srgbClr val="3563B2"/>
                </a:solidFill>
                <a:latin typeface="Arial"/>
              </a:rPr>
              <a:t>B</a:t>
            </a:r>
          </a:p>
        </p:txBody>
      </p:sp>
      <p:sp>
        <p:nvSpPr>
          <p:cNvPr id="33" name="TextBox 32"/>
          <p:cNvSpPr txBox="1"/>
          <p:nvPr/>
        </p:nvSpPr>
        <p:spPr>
          <a:xfrm>
            <a:off x="9436100" y="4711700"/>
            <a:ext cx="18161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142C3B"/>
                </a:solidFill>
                <a:latin typeface="Arial"/>
              </a:rPr>
              <a:t>Then start B</a:t>
            </a:r>
          </a:p>
        </p:txBody>
      </p:sp>
      <p:sp>
        <p:nvSpPr>
          <p:cNvPr id="34" name="TextBox 33"/>
          <p:cNvSpPr txBox="1"/>
          <p:nvPr/>
        </p:nvSpPr>
        <p:spPr>
          <a:xfrm>
            <a:off x="7658100" y="5397500"/>
            <a:ext cx="3594100" cy="262382"/>
          </a:xfrm>
          <a:prstGeom prst="rect">
            <a:avLst/>
          </a:prstGeom>
          <a:noFill/>
        </p:spPr>
        <p:txBody>
          <a:bodyPr wrap="none" lIns="0" rIns="0" tIns="0" bIns="0" anchor="t">
            <a:spAutoFit/>
          </a:bodyPr>
          <a:lstStyle/>
          <a:p>
            <a:pPr algn="l">
              <a:lnSpc>
                <a:spcPts val="1666"/>
              </a:lnSpc>
              <a:spcBef>
                <a:spcPts val="0"/>
              </a:spcBef>
              <a:spcAft>
                <a:spcPts val="0"/>
              </a:spcAft>
            </a:pPr>
            <a:r>
              <a:rPr sz="1400" b="0">
                <a:solidFill>
                  <a:srgbClr val="576C78"/>
                </a:solidFill>
                <a:latin typeface="Arial"/>
              </a:rPr>
              <a:t>C’s effects still publish after B.</a:t>
            </a:r>
          </a:p>
        </p:txBody>
      </p:sp>
      <p:sp>
        <p:nvSpPr>
          <p:cNvPr id="35" name="TextBox 34"/>
          <p:cNvSpPr txBox="1"/>
          <p:nvPr/>
        </p:nvSpPr>
        <p:spPr>
          <a:xfrm>
            <a:off x="660400" y="6019800"/>
            <a:ext cx="10871200" cy="322834"/>
          </a:xfrm>
          <a:prstGeom prst="rect">
            <a:avLst/>
          </a:prstGeom>
          <a:noFill/>
        </p:spPr>
        <p:txBody>
          <a:bodyPr wrap="none" lIns="0" rIns="0" tIns="0" bIns="0" anchor="t">
            <a:spAutoFit/>
          </a:bodyPr>
          <a:lstStyle/>
          <a:p>
            <a:pPr algn="l">
              <a:lnSpc>
                <a:spcPts val="2142"/>
              </a:lnSpc>
              <a:spcBef>
                <a:spcPts val="0"/>
              </a:spcBef>
              <a:spcAft>
                <a:spcPts val="0"/>
              </a:spcAft>
            </a:pPr>
            <a:r>
              <a:rPr sz="1800" b="1">
                <a:solidFill>
                  <a:srgbClr val="142C3B"/>
                </a:solidFill>
                <a:latin typeface="Arial"/>
              </a:rPr>
              <a:t>Keep the original order for conflicting calls. Independent calls can compute together.</a:t>
            </a:r>
          </a:p>
        </p:txBody>
      </p:sp>
      <p:cxnSp>
        <p:nvCxnSpPr>
          <p:cNvPr id="36" name="Connector 35"/>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38" name="TextBox 37"/>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04 / CORRECTNESS</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If earlier work changes the query, inspect again.</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The node set found before execution is valid only while the query’s inputs stay unchanged.</a:t>
            </a:r>
          </a:p>
        </p:txBody>
      </p:sp>
      <p:sp>
        <p:nvSpPr>
          <p:cNvPr id="5" name="Rectangle 4"/>
          <p:cNvSpPr/>
          <p:nvPr/>
        </p:nvSpPr>
        <p:spPr>
          <a:xfrm>
            <a:off x="660400" y="2197100"/>
            <a:ext cx="5207000" cy="24511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25700"/>
            <a:ext cx="46990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576C78"/>
                </a:solidFill>
                <a:latin typeface="Arial"/>
              </a:rPr>
              <a:t>INSPECTION FINDS NO MATCHES</a:t>
            </a:r>
          </a:p>
        </p:txBody>
      </p:sp>
      <p:sp>
        <p:nvSpPr>
          <p:cNvPr id="7" name="Rectangle 6"/>
          <p:cNvSpPr/>
          <p:nvPr/>
        </p:nvSpPr>
        <p:spPr>
          <a:xfrm>
            <a:off x="6324600" y="2197100"/>
            <a:ext cx="5207000" cy="24511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8600" y="2425700"/>
            <a:ext cx="4699000" cy="217043"/>
          </a:xfrm>
          <a:prstGeom prst="rect">
            <a:avLst/>
          </a:prstGeom>
          <a:noFill/>
        </p:spPr>
        <p:txBody>
          <a:bodyPr wrap="none" lIns="0" rIns="0" tIns="0" bIns="0" anchor="t">
            <a:spAutoFit/>
          </a:bodyPr>
          <a:lstStyle/>
          <a:p>
            <a:pPr algn="l">
              <a:lnSpc>
                <a:spcPts val="1309"/>
              </a:lnSpc>
              <a:spcBef>
                <a:spcPts val="0"/>
              </a:spcBef>
              <a:spcAft>
                <a:spcPts val="0"/>
              </a:spcAft>
            </a:pPr>
            <a:r>
              <a:rPr sz="1100" b="1">
                <a:solidFill>
                  <a:srgbClr val="576C78"/>
                </a:solidFill>
                <a:latin typeface="Arial"/>
              </a:rPr>
              <a:t>AN EARLIER ABILITY ADDS AN EDGE</a:t>
            </a:r>
          </a:p>
        </p:txBody>
      </p:sp>
      <p:sp>
        <p:nvSpPr>
          <p:cNvPr id="9" name="Oval 8"/>
          <p:cNvSpPr/>
          <p:nvPr/>
        </p:nvSpPr>
        <p:spPr>
          <a:xfrm>
            <a:off x="1600200" y="3098800"/>
            <a:ext cx="736600" cy="736600"/>
          </a:xfrm>
          <a:prstGeom prst="ellipse">
            <a:avLst/>
          </a:prstGeom>
          <a:solidFill>
            <a:srgbClr val="E8EEFA"/>
          </a:solidFill>
          <a:ln w="12700">
            <a:solidFill>
              <a:srgbClr val="3563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327400"/>
            <a:ext cx="736600" cy="307721"/>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142C3B"/>
                </a:solidFill>
                <a:latin typeface="Arial"/>
              </a:rPr>
              <a:t>here</a:t>
            </a:r>
          </a:p>
        </p:txBody>
      </p:sp>
      <p:sp>
        <p:nvSpPr>
          <p:cNvPr id="11" name="TextBox 10"/>
          <p:cNvSpPr txBox="1"/>
          <p:nvPr/>
        </p:nvSpPr>
        <p:spPr>
          <a:xfrm>
            <a:off x="2819400" y="3302000"/>
            <a:ext cx="2717800" cy="35305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576C78"/>
                </a:solidFill>
                <a:latin typeface="Consolas"/>
              </a:rPr>
              <a:t>Result: []</a:t>
            </a:r>
          </a:p>
        </p:txBody>
      </p:sp>
      <p:cxnSp>
        <p:nvCxnSpPr>
          <p:cNvPr id="12" name="Connector 11"/>
          <p:cNvCxnSpPr/>
          <p:nvPr/>
        </p:nvCxnSpPr>
        <p:spPr>
          <a:xfrm>
            <a:off x="7823200" y="3467100"/>
            <a:ext cx="1993900" cy="0"/>
          </a:xfrm>
          <a:prstGeom prst="line">
            <a:avLst/>
          </a:prstGeom>
          <a:ln w="26670">
            <a:solidFill>
              <a:srgbClr val="008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099300" y="3098800"/>
            <a:ext cx="736600" cy="736600"/>
          </a:xfrm>
          <a:prstGeom prst="ellipse">
            <a:avLst/>
          </a:prstGeom>
          <a:solidFill>
            <a:srgbClr val="E8EEFA"/>
          </a:solidFill>
          <a:ln w="12700">
            <a:solidFill>
              <a:srgbClr val="3563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99300" y="3327400"/>
            <a:ext cx="736600" cy="307721"/>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142C3B"/>
                </a:solidFill>
                <a:latin typeface="Arial"/>
              </a:rPr>
              <a:t>here</a:t>
            </a:r>
          </a:p>
        </p:txBody>
      </p:sp>
      <p:sp>
        <p:nvSpPr>
          <p:cNvPr id="15" name="Oval 14"/>
          <p:cNvSpPr/>
          <p:nvPr/>
        </p:nvSpPr>
        <p:spPr>
          <a:xfrm>
            <a:off x="9855200" y="3098800"/>
            <a:ext cx="736600" cy="736600"/>
          </a:xfrm>
          <a:prstGeom prst="ellipse">
            <a:avLst/>
          </a:prstGeom>
          <a:solidFill>
            <a:srgbClr val="E0F2EC"/>
          </a:solidFill>
          <a:ln w="12700">
            <a:solidFill>
              <a:srgbClr val="008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55200" y="3327400"/>
            <a:ext cx="736600" cy="307721"/>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142C3B"/>
                </a:solidFill>
                <a:latin typeface="Arial"/>
              </a:rPr>
              <a:t>n4</a:t>
            </a:r>
          </a:p>
        </p:txBody>
      </p:sp>
      <p:sp>
        <p:nvSpPr>
          <p:cNvPr id="17" name="TextBox 16"/>
          <p:cNvSpPr txBox="1"/>
          <p:nvPr/>
        </p:nvSpPr>
        <p:spPr>
          <a:xfrm>
            <a:off x="8559800" y="3086100"/>
            <a:ext cx="914400" cy="262382"/>
          </a:xfrm>
          <a:prstGeom prst="rect">
            <a:avLst/>
          </a:prstGeom>
          <a:noFill/>
        </p:spPr>
        <p:txBody>
          <a:bodyPr wrap="none" lIns="0" rIns="0" tIns="0" bIns="0" anchor="t">
            <a:spAutoFit/>
          </a:bodyPr>
          <a:lstStyle/>
          <a:p>
            <a:pPr algn="l">
              <a:lnSpc>
                <a:spcPts val="1666"/>
              </a:lnSpc>
              <a:spcBef>
                <a:spcPts val="0"/>
              </a:spcBef>
              <a:spcAft>
                <a:spcPts val="0"/>
              </a:spcAft>
            </a:pPr>
            <a:r>
              <a:rPr sz="1400" b="0">
                <a:solidFill>
                  <a:srgbClr val="008577"/>
                </a:solidFill>
                <a:latin typeface="Arial"/>
              </a:rPr>
              <a:t>Edge</a:t>
            </a:r>
          </a:p>
        </p:txBody>
      </p:sp>
      <p:sp>
        <p:nvSpPr>
          <p:cNvPr id="18" name="TextBox 17"/>
          <p:cNvSpPr txBox="1"/>
          <p:nvPr/>
        </p:nvSpPr>
        <p:spPr>
          <a:xfrm>
            <a:off x="7950200" y="4102100"/>
            <a:ext cx="3098800" cy="337947"/>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008577"/>
                </a:solidFill>
                <a:latin typeface="Consolas"/>
              </a:rPr>
              <a:t>Result: [n4]</a:t>
            </a:r>
          </a:p>
        </p:txBody>
      </p:sp>
      <p:sp>
        <p:nvSpPr>
          <p:cNvPr id="19" name="Rectangle 18"/>
          <p:cNvSpPr/>
          <p:nvPr/>
        </p:nvSpPr>
        <p:spPr>
          <a:xfrm>
            <a:off x="660400" y="4927600"/>
            <a:ext cx="10871200" cy="711200"/>
          </a:xfrm>
          <a:prstGeom prst="rect">
            <a:avLst/>
          </a:prstGeom>
          <a:solidFill>
            <a:srgbClr val="FBED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9000" y="5156200"/>
            <a:ext cx="104140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9B620F"/>
                </a:solidFill>
                <a:latin typeface="Arial"/>
              </a:rPr>
              <a:t>Before B starts: query again and update its dependencies to include n4.</a:t>
            </a:r>
          </a:p>
        </p:txBody>
      </p:sp>
      <p:sp>
        <p:nvSpPr>
          <p:cNvPr id="21" name="TextBox 20"/>
          <p:cNvSpPr txBox="1"/>
          <p:nvPr/>
        </p:nvSpPr>
        <p:spPr>
          <a:xfrm>
            <a:off x="660400" y="59055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Track changes to the searched edges and filter inputs, even when the result is empty.</a:t>
            </a:r>
          </a:p>
        </p:txBody>
      </p:sp>
      <p:cxnSp>
        <p:nvCxnSpPr>
          <p:cNvPr id="22" name="Connector 21"/>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24" name="TextBox 23"/>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05 / EXPECTED BENEFIT</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B waits before starting, then calculates once.</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Before either body starts, inspection finds: A writes n; B reads n.</a:t>
            </a:r>
          </a:p>
        </p:txBody>
      </p:sp>
      <p:sp>
        <p:nvSpPr>
          <p:cNvPr id="5" name="Rectangle 4"/>
          <p:cNvSpPr/>
          <p:nvPr/>
        </p:nvSpPr>
        <p:spPr>
          <a:xfrm>
            <a:off x="660400" y="1917700"/>
            <a:ext cx="10871200" cy="9398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082800"/>
            <a:ext cx="21971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STARTING VALUE</a:t>
            </a:r>
          </a:p>
        </p:txBody>
      </p:sp>
      <p:sp>
        <p:nvSpPr>
          <p:cNvPr id="7" name="TextBox 6"/>
          <p:cNvSpPr txBox="1"/>
          <p:nvPr/>
        </p:nvSpPr>
        <p:spPr>
          <a:xfrm>
            <a:off x="889000" y="2374900"/>
            <a:ext cx="2260600" cy="35305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Consolas"/>
              </a:rPr>
              <a:t>n.score = 10</a:t>
            </a:r>
          </a:p>
        </p:txBody>
      </p:sp>
      <p:cxnSp>
        <p:nvCxnSpPr>
          <p:cNvPr id="8" name="Connector 7"/>
          <p:cNvCxnSpPr/>
          <p:nvPr/>
        </p:nvCxnSpPr>
        <p:spPr>
          <a:xfrm>
            <a:off x="3365500" y="2082800"/>
            <a:ext cx="0" cy="609600"/>
          </a:xfrm>
          <a:prstGeom prst="line">
            <a:avLst/>
          </a:prstGeom>
          <a:ln w="12700">
            <a:solidFill>
              <a:srgbClr val="D7E0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19500" y="2082800"/>
            <a:ext cx="75946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WHAT THE SERIAL PROGRAM REQUIRES</a:t>
            </a:r>
          </a:p>
        </p:txBody>
      </p:sp>
      <p:sp>
        <p:nvSpPr>
          <p:cNvPr id="10" name="TextBox 9"/>
          <p:cNvSpPr txBox="1"/>
          <p:nvPr/>
        </p:nvSpPr>
        <p:spPr>
          <a:xfrm>
            <a:off x="3619500" y="2374900"/>
            <a:ext cx="75946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142C3B"/>
                </a:solidFill>
                <a:latin typeface="Arial"/>
              </a:rPr>
              <a:t>A sets score to 20. B must calculate using 20.</a:t>
            </a:r>
          </a:p>
        </p:txBody>
      </p:sp>
      <p:sp>
        <p:nvSpPr>
          <p:cNvPr id="11" name="TextBox 10"/>
          <p:cNvSpPr txBox="1"/>
          <p:nvPr/>
        </p:nvSpPr>
        <p:spPr>
          <a:xfrm>
            <a:off x="2159000" y="3098800"/>
            <a:ext cx="7112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TIME</a:t>
            </a:r>
          </a:p>
        </p:txBody>
      </p:sp>
      <p:cxnSp>
        <p:nvCxnSpPr>
          <p:cNvPr id="12" name="Connector 11"/>
          <p:cNvCxnSpPr/>
          <p:nvPr/>
        </p:nvCxnSpPr>
        <p:spPr>
          <a:xfrm>
            <a:off x="2781300" y="3175000"/>
            <a:ext cx="8712200" cy="0"/>
          </a:xfrm>
          <a:prstGeom prst="line">
            <a:avLst/>
          </a:prstGeom>
          <a:ln w="1524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0400" y="3721100"/>
            <a:ext cx="13589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3563B2"/>
                </a:solidFill>
                <a:latin typeface="Arial"/>
              </a:rPr>
              <a:t>Writer A</a:t>
            </a:r>
          </a:p>
        </p:txBody>
      </p:sp>
      <p:sp>
        <p:nvSpPr>
          <p:cNvPr id="14" name="TextBox 13"/>
          <p:cNvSpPr txBox="1"/>
          <p:nvPr/>
        </p:nvSpPr>
        <p:spPr>
          <a:xfrm>
            <a:off x="660400" y="4826000"/>
            <a:ext cx="13589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142C3B"/>
                </a:solidFill>
                <a:latin typeface="Arial"/>
              </a:rPr>
              <a:t>Reader B</a:t>
            </a:r>
          </a:p>
        </p:txBody>
      </p:sp>
      <p:sp>
        <p:nvSpPr>
          <p:cNvPr id="15" name="Rectangle 14"/>
          <p:cNvSpPr/>
          <p:nvPr/>
        </p:nvSpPr>
        <p:spPr>
          <a:xfrm>
            <a:off x="2159000" y="3543300"/>
            <a:ext cx="2349500" cy="6985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3771900"/>
            <a:ext cx="2095500" cy="322834"/>
          </a:xfrm>
          <a:prstGeom prst="rect">
            <a:avLst/>
          </a:prstGeom>
          <a:noFill/>
        </p:spPr>
        <p:txBody>
          <a:bodyPr wrap="none" lIns="0" rIns="0" tIns="0" bIns="0" anchor="t">
            <a:spAutoFit/>
          </a:bodyPr>
          <a:lstStyle/>
          <a:p>
            <a:pPr algn="ctr">
              <a:lnSpc>
                <a:spcPts val="2142"/>
              </a:lnSpc>
              <a:spcBef>
                <a:spcPts val="0"/>
              </a:spcBef>
              <a:spcAft>
                <a:spcPts val="0"/>
              </a:spcAft>
            </a:pPr>
            <a:r>
              <a:rPr sz="1800" b="1">
                <a:solidFill>
                  <a:srgbClr val="3563B2"/>
                </a:solidFill>
                <a:latin typeface="Arial"/>
              </a:rPr>
              <a:t>Prepare 20</a:t>
            </a:r>
          </a:p>
        </p:txBody>
      </p:sp>
      <p:cxnSp>
        <p:nvCxnSpPr>
          <p:cNvPr id="17" name="Connector 16"/>
          <p:cNvCxnSpPr/>
          <p:nvPr/>
        </p:nvCxnSpPr>
        <p:spPr>
          <a:xfrm>
            <a:off x="4610100" y="3911600"/>
            <a:ext cx="2489200" cy="0"/>
          </a:xfrm>
          <a:prstGeom prst="line">
            <a:avLst/>
          </a:prstGeom>
          <a:ln w="16510">
            <a:solidFill>
              <a:srgbClr val="3563B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724400" y="3581400"/>
            <a:ext cx="2273300" cy="262382"/>
          </a:xfrm>
          <a:prstGeom prst="rect">
            <a:avLst/>
          </a:prstGeom>
          <a:noFill/>
        </p:spPr>
        <p:txBody>
          <a:bodyPr wrap="none" lIns="0" rIns="0" tIns="0" bIns="0" anchor="t">
            <a:spAutoFit/>
          </a:bodyPr>
          <a:lstStyle/>
          <a:p>
            <a:pPr algn="ctr">
              <a:lnSpc>
                <a:spcPts val="1666"/>
              </a:lnSpc>
              <a:spcBef>
                <a:spcPts val="0"/>
              </a:spcBef>
              <a:spcAft>
                <a:spcPts val="0"/>
              </a:spcAft>
            </a:pPr>
            <a:r>
              <a:rPr sz="1400" b="0">
                <a:solidFill>
                  <a:srgbClr val="576C78"/>
                </a:solidFill>
                <a:latin typeface="Arial"/>
              </a:rPr>
              <a:t>Not visible yet</a:t>
            </a:r>
          </a:p>
        </p:txBody>
      </p:sp>
      <p:sp>
        <p:nvSpPr>
          <p:cNvPr id="19" name="Rectangle 18"/>
          <p:cNvSpPr/>
          <p:nvPr/>
        </p:nvSpPr>
        <p:spPr>
          <a:xfrm>
            <a:off x="7277100" y="3543300"/>
            <a:ext cx="1701800" cy="6985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0" y="3771900"/>
            <a:ext cx="1524000" cy="322834"/>
          </a:xfrm>
          <a:prstGeom prst="rect">
            <a:avLst/>
          </a:prstGeom>
          <a:noFill/>
        </p:spPr>
        <p:txBody>
          <a:bodyPr wrap="none" lIns="0" rIns="0" tIns="0" bIns="0" anchor="t">
            <a:spAutoFit/>
          </a:bodyPr>
          <a:lstStyle/>
          <a:p>
            <a:pPr algn="ctr">
              <a:lnSpc>
                <a:spcPts val="2142"/>
              </a:lnSpc>
              <a:spcBef>
                <a:spcPts val="0"/>
              </a:spcBef>
              <a:spcAft>
                <a:spcPts val="0"/>
              </a:spcAft>
            </a:pPr>
            <a:r>
              <a:rPr sz="1800" b="1">
                <a:solidFill>
                  <a:srgbClr val="3563B2"/>
                </a:solidFill>
                <a:latin typeface="Arial"/>
              </a:rPr>
              <a:t>Publish 20</a:t>
            </a:r>
          </a:p>
        </p:txBody>
      </p:sp>
      <p:cxnSp>
        <p:nvCxnSpPr>
          <p:cNvPr id="21" name="Connector 20"/>
          <p:cNvCxnSpPr/>
          <p:nvPr/>
        </p:nvCxnSpPr>
        <p:spPr>
          <a:xfrm>
            <a:off x="8128000" y="4267200"/>
            <a:ext cx="0" cy="254000"/>
          </a:xfrm>
          <a:prstGeom prst="line">
            <a:avLst/>
          </a:prstGeom>
          <a:ln w="21590">
            <a:solidFill>
              <a:srgbClr val="3563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159000" y="4597400"/>
            <a:ext cx="4914900" cy="762000"/>
          </a:xfrm>
          <a:prstGeom prst="rect">
            <a:avLst/>
          </a:prstGeom>
          <a:solidFill>
            <a:srgbClr val="EB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24100" y="4864100"/>
            <a:ext cx="4584700" cy="307721"/>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576C78"/>
                </a:solidFill>
                <a:latin typeface="Arial"/>
              </a:rPr>
              <a:t>B stays queued — its body has not started</a:t>
            </a:r>
          </a:p>
        </p:txBody>
      </p:sp>
      <p:cxnSp>
        <p:nvCxnSpPr>
          <p:cNvPr id="24" name="Connector 23"/>
          <p:cNvCxnSpPr/>
          <p:nvPr/>
        </p:nvCxnSpPr>
        <p:spPr>
          <a:xfrm>
            <a:off x="7124700" y="4978400"/>
            <a:ext cx="114300" cy="0"/>
          </a:xfrm>
          <a:prstGeom prst="line">
            <a:avLst/>
          </a:prstGeom>
          <a:ln w="1651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277100" y="4597400"/>
            <a:ext cx="1701800" cy="762000"/>
          </a:xfrm>
          <a:prstGeom prst="rect">
            <a:avLst/>
          </a:prstGeom>
          <a:solidFill>
            <a:srgbClr val="E8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78700" y="4737100"/>
            <a:ext cx="1498600" cy="564642"/>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3563B2"/>
                </a:solidFill>
                <a:latin typeface="Arial"/>
              </a:rPr>
              <a:t>Start B</a:t>
            </a:r>
          </a:p>
          <a:p>
            <a:pPr algn="ctr">
              <a:lnSpc>
                <a:spcPts val="2023"/>
              </a:lnSpc>
              <a:spcBef>
                <a:spcPts val="0"/>
              </a:spcBef>
              <a:spcAft>
                <a:spcPts val="0"/>
              </a:spcAft>
            </a:pPr>
            <a:r>
              <a:rPr sz="1700" b="1">
                <a:solidFill>
                  <a:srgbClr val="3563B2"/>
                </a:solidFill>
                <a:latin typeface="Arial"/>
              </a:rPr>
              <a:t>Read 20</a:t>
            </a:r>
          </a:p>
        </p:txBody>
      </p:sp>
      <p:cxnSp>
        <p:nvCxnSpPr>
          <p:cNvPr id="27" name="Connector 26"/>
          <p:cNvCxnSpPr/>
          <p:nvPr/>
        </p:nvCxnSpPr>
        <p:spPr>
          <a:xfrm>
            <a:off x="9042400" y="4978400"/>
            <a:ext cx="368300" cy="0"/>
          </a:xfrm>
          <a:prstGeom prst="line">
            <a:avLst/>
          </a:prstGeom>
          <a:ln w="16510">
            <a:solidFill>
              <a:srgbClr val="576C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486900" y="4597400"/>
            <a:ext cx="2044700" cy="7620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88500" y="4737100"/>
            <a:ext cx="1841500" cy="564642"/>
          </a:xfrm>
          <a:prstGeom prst="rect">
            <a:avLst/>
          </a:prstGeom>
          <a:noFill/>
        </p:spPr>
        <p:txBody>
          <a:bodyPr wrap="none" lIns="0" rIns="0" tIns="0" bIns="0" anchor="t">
            <a:spAutoFit/>
          </a:bodyPr>
          <a:lstStyle/>
          <a:p>
            <a:pPr algn="ctr">
              <a:lnSpc>
                <a:spcPts val="2023"/>
              </a:lnSpc>
              <a:spcBef>
                <a:spcPts val="0"/>
              </a:spcBef>
              <a:spcAft>
                <a:spcPts val="0"/>
              </a:spcAft>
            </a:pPr>
            <a:r>
              <a:rPr sz="1700" b="1">
                <a:solidFill>
                  <a:srgbClr val="008577"/>
                </a:solidFill>
                <a:latin typeface="Arial"/>
              </a:rPr>
              <a:t>Calculate once</a:t>
            </a:r>
          </a:p>
          <a:p>
            <a:pPr algn="ctr">
              <a:lnSpc>
                <a:spcPts val="2023"/>
              </a:lnSpc>
              <a:spcBef>
                <a:spcPts val="0"/>
              </a:spcBef>
              <a:spcAft>
                <a:spcPts val="0"/>
              </a:spcAft>
            </a:pPr>
            <a:r>
              <a:rPr sz="1700" b="1">
                <a:solidFill>
                  <a:srgbClr val="008577"/>
                </a:solidFill>
                <a:latin typeface="Arial"/>
              </a:rPr>
              <a:t>using 20</a:t>
            </a:r>
          </a:p>
        </p:txBody>
      </p:sp>
      <p:sp>
        <p:nvSpPr>
          <p:cNvPr id="30" name="TextBox 29"/>
          <p:cNvSpPr txBox="1"/>
          <p:nvPr/>
        </p:nvSpPr>
        <p:spPr>
          <a:xfrm>
            <a:off x="2159000" y="5600700"/>
            <a:ext cx="9372600" cy="322834"/>
          </a:xfrm>
          <a:prstGeom prst="rect">
            <a:avLst/>
          </a:prstGeom>
          <a:noFill/>
        </p:spPr>
        <p:txBody>
          <a:bodyPr wrap="none" lIns="0" rIns="0" tIns="0" bIns="0" anchor="t">
            <a:spAutoFit/>
          </a:bodyPr>
          <a:lstStyle/>
          <a:p>
            <a:pPr algn="l">
              <a:lnSpc>
                <a:spcPts val="2142"/>
              </a:lnSpc>
              <a:spcBef>
                <a:spcPts val="0"/>
              </a:spcBef>
              <a:spcAft>
                <a:spcPts val="0"/>
              </a:spcAft>
            </a:pPr>
            <a:r>
              <a:rPr sz="1800" b="1">
                <a:solidFill>
                  <a:srgbClr val="008577"/>
                </a:solidFill>
                <a:latin typeface="Arial"/>
              </a:rPr>
              <a:t>No calculation with 10. No discarded first attempt.</a:t>
            </a:r>
          </a:p>
        </p:txBody>
      </p:sp>
      <p:sp>
        <p:nvSpPr>
          <p:cNvPr id="31" name="TextBox 30"/>
          <p:cNvSpPr txBox="1"/>
          <p:nvPr/>
        </p:nvSpPr>
        <p:spPr>
          <a:xfrm>
            <a:off x="660400" y="6070600"/>
            <a:ext cx="10871200" cy="277495"/>
          </a:xfrm>
          <a:prstGeom prst="rect">
            <a:avLst/>
          </a:prstGeom>
          <a:noFill/>
        </p:spPr>
        <p:txBody>
          <a:bodyPr wrap="none" lIns="0" rIns="0" tIns="0" bIns="0" anchor="t">
            <a:spAutoFit/>
          </a:bodyPr>
          <a:lstStyle/>
          <a:p>
            <a:pPr algn="l">
              <a:lnSpc>
                <a:spcPts val="1784"/>
              </a:lnSpc>
              <a:spcBef>
                <a:spcPts val="0"/>
              </a:spcBef>
              <a:spcAft>
                <a:spcPts val="0"/>
              </a:spcAft>
            </a:pPr>
            <a:r>
              <a:rPr sz="1500" b="0">
                <a:solidFill>
                  <a:srgbClr val="576C78"/>
                </a:solidFill>
                <a:latin typeface="Arial"/>
              </a:rPr>
              <a:t>Refresh inspection if its inputs changed. Keep final validation for unproven accesses.</a:t>
            </a:r>
          </a:p>
        </p:txBody>
      </p:sp>
      <p:cxnSp>
        <p:nvCxnSpPr>
          <p:cNvPr id="32" name="Connector 31"/>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34" name="TextBox 33"/>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06 / EVALUATION</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The hypothesis is a measurable trade-off.</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Inspection is useful when avoiding wasted computation saves more time than inspection costs.</a:t>
            </a:r>
          </a:p>
        </p:txBody>
      </p:sp>
      <p:sp>
        <p:nvSpPr>
          <p:cNvPr id="5" name="Rectangle 4"/>
          <p:cNvSpPr/>
          <p:nvPr/>
        </p:nvSpPr>
        <p:spPr>
          <a:xfrm>
            <a:off x="660400" y="2184400"/>
            <a:ext cx="5232400" cy="20320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800" y="2438400"/>
            <a:ext cx="4660900" cy="398398"/>
          </a:xfrm>
          <a:prstGeom prst="rect">
            <a:avLst/>
          </a:prstGeom>
          <a:noFill/>
        </p:spPr>
        <p:txBody>
          <a:bodyPr wrap="none" lIns="0" rIns="0" tIns="0" bIns="0" anchor="t">
            <a:spAutoFit/>
          </a:bodyPr>
          <a:lstStyle/>
          <a:p>
            <a:pPr algn="l">
              <a:lnSpc>
                <a:spcPts val="2736"/>
              </a:lnSpc>
              <a:spcBef>
                <a:spcPts val="0"/>
              </a:spcBef>
              <a:spcAft>
                <a:spcPts val="0"/>
              </a:spcAft>
            </a:pPr>
            <a:r>
              <a:rPr sz="2300" b="1">
                <a:solidFill>
                  <a:srgbClr val="008577"/>
                </a:solidFill>
                <a:latin typeface="Arial"/>
              </a:rPr>
              <a:t>Potential benefit</a:t>
            </a:r>
          </a:p>
        </p:txBody>
      </p:sp>
      <p:sp>
        <p:nvSpPr>
          <p:cNvPr id="7" name="TextBox 6"/>
          <p:cNvSpPr txBox="1"/>
          <p:nvPr/>
        </p:nvSpPr>
        <p:spPr>
          <a:xfrm>
            <a:off x="939800" y="2984500"/>
            <a:ext cx="4648200" cy="625094"/>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Fewer failed speculative attempts</a:t>
            </a:r>
          </a:p>
          <a:p>
            <a:pPr algn="l">
              <a:lnSpc>
                <a:spcPts val="2261"/>
              </a:lnSpc>
              <a:spcBef>
                <a:spcPts val="0"/>
              </a:spcBef>
              <a:spcAft>
                <a:spcPts val="0"/>
              </a:spcAft>
            </a:pPr>
            <a:r>
              <a:rPr sz="1900" b="0">
                <a:solidFill>
                  <a:srgbClr val="142C3B"/>
                </a:solidFill>
                <a:latin typeface="Arial"/>
              </a:rPr>
              <a:t>Workers start independent calls first</a:t>
            </a:r>
          </a:p>
        </p:txBody>
      </p:sp>
      <p:sp>
        <p:nvSpPr>
          <p:cNvPr id="8" name="Rectangle 7"/>
          <p:cNvSpPr/>
          <p:nvPr/>
        </p:nvSpPr>
        <p:spPr>
          <a:xfrm>
            <a:off x="6299200" y="2184400"/>
            <a:ext cx="5232400" cy="2032000"/>
          </a:xfrm>
          <a:prstGeom prst="rect">
            <a:avLst/>
          </a:prstGeom>
          <a:solidFill>
            <a:srgbClr val="FBED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8600" y="2438400"/>
            <a:ext cx="4660900" cy="398398"/>
          </a:xfrm>
          <a:prstGeom prst="rect">
            <a:avLst/>
          </a:prstGeom>
          <a:noFill/>
        </p:spPr>
        <p:txBody>
          <a:bodyPr wrap="none" lIns="0" rIns="0" tIns="0" bIns="0" anchor="t">
            <a:spAutoFit/>
          </a:bodyPr>
          <a:lstStyle/>
          <a:p>
            <a:pPr algn="l">
              <a:lnSpc>
                <a:spcPts val="2736"/>
              </a:lnSpc>
              <a:spcBef>
                <a:spcPts val="0"/>
              </a:spcBef>
              <a:spcAft>
                <a:spcPts val="0"/>
              </a:spcAft>
            </a:pPr>
            <a:r>
              <a:rPr sz="2300" b="1">
                <a:solidFill>
                  <a:srgbClr val="9B620F"/>
                </a:solidFill>
                <a:latin typeface="Arial"/>
              </a:rPr>
              <a:t>Potential cost</a:t>
            </a:r>
          </a:p>
        </p:txBody>
      </p:sp>
      <p:sp>
        <p:nvSpPr>
          <p:cNvPr id="10" name="TextBox 9"/>
          <p:cNvSpPr txBox="1"/>
          <p:nvPr/>
        </p:nvSpPr>
        <p:spPr>
          <a:xfrm>
            <a:off x="6578600" y="2984500"/>
            <a:ext cx="4648200" cy="625094"/>
          </a:xfrm>
          <a:prstGeom prst="rect">
            <a:avLst/>
          </a:prstGeom>
          <a:noFill/>
        </p:spPr>
        <p:txBody>
          <a:bodyPr wrap="none" lIns="0" rIns="0" tIns="0" bIns="0" anchor="t">
            <a:spAutoFit/>
          </a:bodyPr>
          <a:lstStyle/>
          <a:p>
            <a:pPr algn="l">
              <a:lnSpc>
                <a:spcPts val="2261"/>
              </a:lnSpc>
              <a:spcBef>
                <a:spcPts val="0"/>
              </a:spcBef>
              <a:spcAft>
                <a:spcPts val="0"/>
              </a:spcAft>
            </a:pPr>
            <a:r>
              <a:rPr sz="1900" b="0">
                <a:solidFill>
                  <a:srgbClr val="142C3B"/>
                </a:solidFill>
                <a:latin typeface="Arial"/>
              </a:rPr>
              <a:t>Extra lookups and re-inspection</a:t>
            </a:r>
          </a:p>
          <a:p>
            <a:pPr algn="l">
              <a:lnSpc>
                <a:spcPts val="2261"/>
              </a:lnSpc>
              <a:spcBef>
                <a:spcPts val="0"/>
              </a:spcBef>
              <a:spcAft>
                <a:spcPts val="0"/>
              </a:spcAft>
            </a:pPr>
            <a:r>
              <a:rPr sz="1900" b="0">
                <a:solidFill>
                  <a:srgbClr val="142C3B"/>
                </a:solidFill>
                <a:latin typeface="Arial"/>
              </a:rPr>
              <a:t>Conservative sets may delay safe work</a:t>
            </a:r>
          </a:p>
        </p:txBody>
      </p:sp>
      <p:sp>
        <p:nvSpPr>
          <p:cNvPr id="11" name="TextBox 10"/>
          <p:cNvSpPr txBox="1"/>
          <p:nvPr/>
        </p:nvSpPr>
        <p:spPr>
          <a:xfrm>
            <a:off x="660400" y="4483100"/>
            <a:ext cx="3429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CONTROLLED COMPARISON</a:t>
            </a:r>
          </a:p>
        </p:txBody>
      </p:sp>
      <p:sp>
        <p:nvSpPr>
          <p:cNvPr id="12" name="Rectangle 11"/>
          <p:cNvSpPr/>
          <p:nvPr/>
        </p:nvSpPr>
        <p:spPr>
          <a:xfrm>
            <a:off x="660400" y="4749800"/>
            <a:ext cx="2616200" cy="647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4965700"/>
            <a:ext cx="2362200" cy="277495"/>
          </a:xfrm>
          <a:prstGeom prst="rect">
            <a:avLst/>
          </a:prstGeom>
          <a:noFill/>
        </p:spPr>
        <p:txBody>
          <a:bodyPr wrap="none" lIns="0" rIns="0" tIns="0" bIns="0" anchor="t">
            <a:spAutoFit/>
          </a:bodyPr>
          <a:lstStyle/>
          <a:p>
            <a:pPr algn="ctr">
              <a:lnSpc>
                <a:spcPts val="1784"/>
              </a:lnSpc>
              <a:spcBef>
                <a:spcPts val="0"/>
              </a:spcBef>
              <a:spcAft>
                <a:spcPts val="0"/>
              </a:spcAft>
            </a:pPr>
            <a:r>
              <a:rPr sz="1500" b="1">
                <a:solidFill>
                  <a:srgbClr val="142C3B"/>
                </a:solidFill>
                <a:latin typeface="Arial"/>
              </a:rPr>
              <a:t>Serial</a:t>
            </a:r>
          </a:p>
        </p:txBody>
      </p:sp>
      <p:sp>
        <p:nvSpPr>
          <p:cNvPr id="14" name="Rectangle 13"/>
          <p:cNvSpPr/>
          <p:nvPr/>
        </p:nvSpPr>
        <p:spPr>
          <a:xfrm>
            <a:off x="3429000" y="4749800"/>
            <a:ext cx="2616200" cy="647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6000" y="4965700"/>
            <a:ext cx="2362200" cy="277495"/>
          </a:xfrm>
          <a:prstGeom prst="rect">
            <a:avLst/>
          </a:prstGeom>
          <a:noFill/>
        </p:spPr>
        <p:txBody>
          <a:bodyPr wrap="none" lIns="0" rIns="0" tIns="0" bIns="0" anchor="t">
            <a:spAutoFit/>
          </a:bodyPr>
          <a:lstStyle/>
          <a:p>
            <a:pPr algn="ctr">
              <a:lnSpc>
                <a:spcPts val="1784"/>
              </a:lnSpc>
              <a:spcBef>
                <a:spcPts val="0"/>
              </a:spcBef>
              <a:spcAft>
                <a:spcPts val="0"/>
              </a:spcAft>
            </a:pPr>
            <a:r>
              <a:rPr sz="1500" b="1">
                <a:solidFill>
                  <a:srgbClr val="142C3B"/>
                </a:solidFill>
                <a:latin typeface="Arial"/>
              </a:rPr>
              <a:t>Current speculation</a:t>
            </a:r>
          </a:p>
        </p:txBody>
      </p:sp>
      <p:sp>
        <p:nvSpPr>
          <p:cNvPr id="16" name="Rectangle 15"/>
          <p:cNvSpPr/>
          <p:nvPr/>
        </p:nvSpPr>
        <p:spPr>
          <a:xfrm>
            <a:off x="6197600" y="4749800"/>
            <a:ext cx="2616200" cy="647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4965700"/>
            <a:ext cx="2362200" cy="277495"/>
          </a:xfrm>
          <a:prstGeom prst="rect">
            <a:avLst/>
          </a:prstGeom>
          <a:noFill/>
        </p:spPr>
        <p:txBody>
          <a:bodyPr wrap="none" lIns="0" rIns="0" tIns="0" bIns="0" anchor="t">
            <a:spAutoFit/>
          </a:bodyPr>
          <a:lstStyle/>
          <a:p>
            <a:pPr algn="ctr">
              <a:lnSpc>
                <a:spcPts val="1784"/>
              </a:lnSpc>
              <a:spcBef>
                <a:spcPts val="0"/>
              </a:spcBef>
              <a:spcAft>
                <a:spcPts val="0"/>
              </a:spcAft>
            </a:pPr>
            <a:r>
              <a:rPr sz="1500" b="1">
                <a:solidFill>
                  <a:srgbClr val="142C3B"/>
                </a:solidFill>
                <a:latin typeface="Arial"/>
              </a:rPr>
              <a:t>Eager memory tracking</a:t>
            </a:r>
          </a:p>
        </p:txBody>
      </p:sp>
      <p:sp>
        <p:nvSpPr>
          <p:cNvPr id="18" name="Rectangle 17"/>
          <p:cNvSpPr/>
          <p:nvPr/>
        </p:nvSpPr>
        <p:spPr>
          <a:xfrm>
            <a:off x="8966200" y="4749800"/>
            <a:ext cx="2565400" cy="6477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3200" y="4965700"/>
            <a:ext cx="2311400" cy="277495"/>
          </a:xfrm>
          <a:prstGeom prst="rect">
            <a:avLst/>
          </a:prstGeom>
          <a:noFill/>
        </p:spPr>
        <p:txBody>
          <a:bodyPr wrap="none" lIns="0" rIns="0" tIns="0" bIns="0" anchor="t">
            <a:spAutoFit/>
          </a:bodyPr>
          <a:lstStyle/>
          <a:p>
            <a:pPr algn="ctr">
              <a:lnSpc>
                <a:spcPts val="1784"/>
              </a:lnSpc>
              <a:spcBef>
                <a:spcPts val="0"/>
              </a:spcBef>
              <a:spcAft>
                <a:spcPts val="0"/>
              </a:spcAft>
            </a:pPr>
            <a:r>
              <a:rPr sz="1500" b="1">
                <a:solidFill>
                  <a:srgbClr val="142C3B"/>
                </a:solidFill>
                <a:latin typeface="Arial"/>
              </a:rPr>
              <a:t>Inspect then schedule</a:t>
            </a:r>
          </a:p>
        </p:txBody>
      </p:sp>
      <p:sp>
        <p:nvSpPr>
          <p:cNvPr id="20" name="TextBox 19"/>
          <p:cNvSpPr txBox="1"/>
          <p:nvPr/>
        </p:nvSpPr>
        <p:spPr>
          <a:xfrm>
            <a:off x="660400" y="56515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1">
                <a:solidFill>
                  <a:srgbClr val="142C3B"/>
                </a:solidFill>
                <a:latin typeface="Arial"/>
              </a:rPr>
              <a:t>Vary: shared nodes, query size, computation cost, and graph changes.</a:t>
            </a:r>
          </a:p>
        </p:txBody>
      </p:sp>
      <p:sp>
        <p:nvSpPr>
          <p:cNvPr id="21" name="TextBox 20"/>
          <p:cNvSpPr txBox="1"/>
          <p:nvPr/>
        </p:nvSpPr>
        <p:spPr>
          <a:xfrm>
            <a:off x="660400" y="6007100"/>
            <a:ext cx="10871200" cy="292608"/>
          </a:xfrm>
          <a:prstGeom prst="rect">
            <a:avLst/>
          </a:prstGeom>
          <a:noFill/>
        </p:spPr>
        <p:txBody>
          <a:bodyPr wrap="none" lIns="0" rIns="0" tIns="0" bIns="0" anchor="t">
            <a:spAutoFit/>
          </a:bodyPr>
          <a:lstStyle/>
          <a:p>
            <a:pPr algn="l">
              <a:lnSpc>
                <a:spcPts val="1904"/>
              </a:lnSpc>
              <a:spcBef>
                <a:spcPts val="0"/>
              </a:spcBef>
              <a:spcAft>
                <a:spcPts val="0"/>
              </a:spcAft>
            </a:pPr>
            <a:r>
              <a:rPr sz="1600" b="0">
                <a:solidFill>
                  <a:srgbClr val="576C78"/>
                </a:solidFill>
                <a:latin typeface="Arial"/>
              </a:rPr>
              <a:t>Measure: total time, discarded computation, inspection cost, and unnecessary waits.</a:t>
            </a:r>
          </a:p>
        </p:txBody>
      </p:sp>
      <p:cxnSp>
        <p:nvCxnSpPr>
          <p:cNvPr id="22" name="Connector 21"/>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a:t>
            </a:r>
          </a:p>
        </p:txBody>
      </p:sp>
      <p:sp>
        <p:nvSpPr>
          <p:cNvPr id="24" name="TextBox 23"/>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2B3A"/>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7CDAC6"/>
                </a:solidFill>
                <a:latin typeface="Arial"/>
              </a:rPr>
              <a:t>07 / PROPOSED NEXT STEP</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FFFFFF"/>
                </a:solidFill>
                <a:latin typeface="Arial"/>
              </a:rPr>
              <a:t>Start with one query and one falsifiable claim.</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D4E2E4"/>
                </a:solidFill>
                <a:latin typeface="Arial"/>
              </a:rPr>
              <a:t>Can finding dependencies before launch reduce total execution time?</a:t>
            </a:r>
          </a:p>
        </p:txBody>
      </p:sp>
      <p:sp>
        <p:nvSpPr>
          <p:cNvPr id="5" name="Rectangle 4"/>
          <p:cNvSpPr/>
          <p:nvPr/>
        </p:nvSpPr>
        <p:spPr>
          <a:xfrm>
            <a:off x="660400" y="2247900"/>
            <a:ext cx="3378200" cy="27305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489200"/>
            <a:ext cx="2857500" cy="277495"/>
          </a:xfrm>
          <a:prstGeom prst="rect">
            <a:avLst/>
          </a:prstGeom>
          <a:noFill/>
        </p:spPr>
        <p:txBody>
          <a:bodyPr wrap="none" lIns="0" rIns="0" tIns="0" bIns="0" anchor="t">
            <a:spAutoFit/>
          </a:bodyPr>
          <a:lstStyle/>
          <a:p>
            <a:pPr algn="l">
              <a:lnSpc>
                <a:spcPts val="1784"/>
              </a:lnSpc>
              <a:spcBef>
                <a:spcPts val="0"/>
              </a:spcBef>
              <a:spcAft>
                <a:spcPts val="0"/>
              </a:spcAft>
            </a:pPr>
            <a:r>
              <a:rPr sz="1500" b="1">
                <a:solidFill>
                  <a:srgbClr val="7CDAC6"/>
                </a:solidFill>
                <a:latin typeface="Arial"/>
              </a:rPr>
              <a:t>01</a:t>
            </a:r>
          </a:p>
        </p:txBody>
      </p:sp>
      <p:sp>
        <p:nvSpPr>
          <p:cNvPr id="7" name="TextBox 6"/>
          <p:cNvSpPr txBox="1"/>
          <p:nvPr/>
        </p:nvSpPr>
        <p:spPr>
          <a:xfrm>
            <a:off x="889000" y="2946400"/>
            <a:ext cx="2908300" cy="745997"/>
          </a:xfrm>
          <a:prstGeom prst="rect">
            <a:avLst/>
          </a:prstGeom>
          <a:noFill/>
        </p:spPr>
        <p:txBody>
          <a:bodyPr wrap="none" lIns="0" rIns="0" tIns="0" bIns="0" anchor="t">
            <a:spAutoFit/>
          </a:bodyPr>
          <a:lstStyle/>
          <a:p>
            <a:pPr algn="l">
              <a:lnSpc>
                <a:spcPts val="2736"/>
              </a:lnSpc>
              <a:spcBef>
                <a:spcPts val="0"/>
              </a:spcBef>
              <a:spcAft>
                <a:spcPts val="0"/>
              </a:spcAft>
            </a:pPr>
            <a:r>
              <a:rPr sz="2300" b="1">
                <a:solidFill>
                  <a:srgbClr val="FFFFFF"/>
                </a:solidFill>
                <a:latin typeface="Arial"/>
              </a:rPr>
              <a:t>Inspect complete</a:t>
            </a:r>
          </a:p>
          <a:p>
            <a:pPr algn="l">
              <a:lnSpc>
                <a:spcPts val="2736"/>
              </a:lnSpc>
              <a:spcBef>
                <a:spcPts val="0"/>
              </a:spcBef>
              <a:spcAft>
                <a:spcPts val="0"/>
              </a:spcAft>
            </a:pPr>
            <a:r>
              <a:rPr sz="2300" b="1">
                <a:solidFill>
                  <a:srgbClr val="FFFFFF"/>
                </a:solidFill>
                <a:latin typeface="Arial"/>
              </a:rPr>
              <a:t>queries</a:t>
            </a:r>
          </a:p>
        </p:txBody>
      </p:sp>
      <p:sp>
        <p:nvSpPr>
          <p:cNvPr id="8" name="TextBox 7"/>
          <p:cNvSpPr txBox="1"/>
          <p:nvPr/>
        </p:nvSpPr>
        <p:spPr>
          <a:xfrm>
            <a:off x="889000" y="3898900"/>
            <a:ext cx="2895600" cy="776224"/>
          </a:xfrm>
          <a:prstGeom prst="rect">
            <a:avLst/>
          </a:prstGeom>
          <a:noFill/>
        </p:spPr>
        <p:txBody>
          <a:bodyPr wrap="none" lIns="0" rIns="0" tIns="0" bIns="0" anchor="t">
            <a:spAutoFit/>
          </a:bodyPr>
          <a:lstStyle/>
          <a:p>
            <a:pPr algn="l">
              <a:lnSpc>
                <a:spcPts val="1904"/>
              </a:lnSpc>
              <a:spcBef>
                <a:spcPts val="0"/>
              </a:spcBef>
              <a:spcAft>
                <a:spcPts val="0"/>
              </a:spcAft>
            </a:pPr>
            <a:r>
              <a:rPr sz="1600" b="0">
                <a:solidFill>
                  <a:srgbClr val="D4E2E4"/>
                </a:solidFill>
                <a:latin typeface="Arial"/>
              </a:rPr>
              <a:t>Available, safe inputs.</a:t>
            </a:r>
          </a:p>
          <a:p>
            <a:pPr algn="l">
              <a:lnSpc>
                <a:spcPts val="1904"/>
              </a:lnSpc>
              <a:spcBef>
                <a:spcPts val="0"/>
              </a:spcBef>
              <a:spcAft>
                <a:spcPts val="0"/>
              </a:spcAft>
            </a:pPr>
            <a:r>
              <a:rPr sz="1600" b="0">
                <a:solidFill>
                  <a:srgbClr val="D4E2E4"/>
                </a:solidFill>
                <a:latin typeface="Arial"/>
              </a:rPr>
              <a:t>Include multi-hop queries.</a:t>
            </a:r>
          </a:p>
          <a:p>
            <a:pPr algn="l">
              <a:lnSpc>
                <a:spcPts val="1904"/>
              </a:lnSpc>
              <a:spcBef>
                <a:spcPts val="0"/>
              </a:spcBef>
              <a:spcAft>
                <a:spcPts val="0"/>
              </a:spcAft>
            </a:pPr>
            <a:r>
              <a:rPr sz="1600" b="0">
                <a:solidFill>
                  <a:srgbClr val="D4E2E4"/>
                </a:solidFill>
                <a:latin typeface="Arial"/>
              </a:rPr>
              <a:t>Summarize reads and writes.</a:t>
            </a:r>
          </a:p>
        </p:txBody>
      </p:sp>
      <p:sp>
        <p:nvSpPr>
          <p:cNvPr id="9" name="Rectangle 8"/>
          <p:cNvSpPr/>
          <p:nvPr/>
        </p:nvSpPr>
        <p:spPr>
          <a:xfrm>
            <a:off x="4406900" y="2247900"/>
            <a:ext cx="3378200" cy="27305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5500" y="2489200"/>
            <a:ext cx="2857500" cy="277495"/>
          </a:xfrm>
          <a:prstGeom prst="rect">
            <a:avLst/>
          </a:prstGeom>
          <a:noFill/>
        </p:spPr>
        <p:txBody>
          <a:bodyPr wrap="none" lIns="0" rIns="0" tIns="0" bIns="0" anchor="t">
            <a:spAutoFit/>
          </a:bodyPr>
          <a:lstStyle/>
          <a:p>
            <a:pPr algn="l">
              <a:lnSpc>
                <a:spcPts val="1784"/>
              </a:lnSpc>
              <a:spcBef>
                <a:spcPts val="0"/>
              </a:spcBef>
              <a:spcAft>
                <a:spcPts val="0"/>
              </a:spcAft>
            </a:pPr>
            <a:r>
              <a:rPr sz="1500" b="1">
                <a:solidFill>
                  <a:srgbClr val="7CDAC6"/>
                </a:solidFill>
                <a:latin typeface="Arial"/>
              </a:rPr>
              <a:t>02</a:t>
            </a:r>
          </a:p>
        </p:txBody>
      </p:sp>
      <p:sp>
        <p:nvSpPr>
          <p:cNvPr id="11" name="TextBox 10"/>
          <p:cNvSpPr txBox="1"/>
          <p:nvPr/>
        </p:nvSpPr>
        <p:spPr>
          <a:xfrm>
            <a:off x="4635500" y="2946400"/>
            <a:ext cx="2908300" cy="745997"/>
          </a:xfrm>
          <a:prstGeom prst="rect">
            <a:avLst/>
          </a:prstGeom>
          <a:noFill/>
        </p:spPr>
        <p:txBody>
          <a:bodyPr wrap="none" lIns="0" rIns="0" tIns="0" bIns="0" anchor="t">
            <a:spAutoFit/>
          </a:bodyPr>
          <a:lstStyle/>
          <a:p>
            <a:pPr algn="l">
              <a:lnSpc>
                <a:spcPts val="2736"/>
              </a:lnSpc>
              <a:spcBef>
                <a:spcPts val="0"/>
              </a:spcBef>
              <a:spcAft>
                <a:spcPts val="0"/>
              </a:spcAft>
            </a:pPr>
            <a:r>
              <a:rPr sz="2300" b="1">
                <a:solidFill>
                  <a:srgbClr val="FFFFFF"/>
                </a:solidFill>
                <a:latin typeface="Arial"/>
              </a:rPr>
              <a:t>Schedule before</a:t>
            </a:r>
          </a:p>
          <a:p>
            <a:pPr algn="l">
              <a:lnSpc>
                <a:spcPts val="2736"/>
              </a:lnSpc>
              <a:spcBef>
                <a:spcPts val="0"/>
              </a:spcBef>
              <a:spcAft>
                <a:spcPts val="0"/>
              </a:spcAft>
            </a:pPr>
            <a:r>
              <a:rPr sz="2300" b="1">
                <a:solidFill>
                  <a:srgbClr val="FFFFFF"/>
                </a:solidFill>
                <a:latin typeface="Arial"/>
              </a:rPr>
              <a:t>launch</a:t>
            </a:r>
          </a:p>
        </p:txBody>
      </p:sp>
      <p:sp>
        <p:nvSpPr>
          <p:cNvPr id="12" name="TextBox 11"/>
          <p:cNvSpPr txBox="1"/>
          <p:nvPr/>
        </p:nvSpPr>
        <p:spPr>
          <a:xfrm>
            <a:off x="4635500" y="3898900"/>
            <a:ext cx="2895600" cy="776224"/>
          </a:xfrm>
          <a:prstGeom prst="rect">
            <a:avLst/>
          </a:prstGeom>
          <a:noFill/>
        </p:spPr>
        <p:txBody>
          <a:bodyPr wrap="none" lIns="0" rIns="0" tIns="0" bIns="0" anchor="t">
            <a:spAutoFit/>
          </a:bodyPr>
          <a:lstStyle/>
          <a:p>
            <a:pPr algn="l">
              <a:lnSpc>
                <a:spcPts val="1904"/>
              </a:lnSpc>
              <a:spcBef>
                <a:spcPts val="0"/>
              </a:spcBef>
              <a:spcAft>
                <a:spcPts val="0"/>
              </a:spcAft>
            </a:pPr>
            <a:r>
              <a:rPr sz="1600" b="0">
                <a:solidFill>
                  <a:srgbClr val="D4E2E4"/>
                </a:solidFill>
                <a:latin typeface="Arial"/>
              </a:rPr>
              <a:t>Hold back conflicting calls.</a:t>
            </a:r>
          </a:p>
          <a:p>
            <a:pPr algn="l">
              <a:lnSpc>
                <a:spcPts val="1904"/>
              </a:lnSpc>
              <a:spcBef>
                <a:spcPts val="0"/>
              </a:spcBef>
              <a:spcAft>
                <a:spcPts val="0"/>
              </a:spcAft>
            </a:pPr>
            <a:r>
              <a:rPr sz="1600" b="0">
                <a:solidFill>
                  <a:srgbClr val="D4E2E4"/>
                </a:solidFill>
                <a:latin typeface="Arial"/>
              </a:rPr>
              <a:t>Keep ordered effects.</a:t>
            </a:r>
          </a:p>
          <a:p>
            <a:pPr algn="l">
              <a:lnSpc>
                <a:spcPts val="1904"/>
              </a:lnSpc>
              <a:spcBef>
                <a:spcPts val="0"/>
              </a:spcBef>
              <a:spcAft>
                <a:spcPts val="0"/>
              </a:spcAft>
            </a:pPr>
            <a:r>
              <a:rPr sz="1600" b="0">
                <a:solidFill>
                  <a:srgbClr val="D4E2E4"/>
                </a:solidFill>
                <a:latin typeface="Arial"/>
              </a:rPr>
              <a:t>Retain speculative validation.</a:t>
            </a:r>
          </a:p>
        </p:txBody>
      </p:sp>
      <p:sp>
        <p:nvSpPr>
          <p:cNvPr id="13" name="Rectangle 12"/>
          <p:cNvSpPr/>
          <p:nvPr/>
        </p:nvSpPr>
        <p:spPr>
          <a:xfrm>
            <a:off x="8153400" y="2247900"/>
            <a:ext cx="3378200" cy="2730500"/>
          </a:xfrm>
          <a:prstGeom prst="rect">
            <a:avLst/>
          </a:prstGeom>
          <a:solidFill>
            <a:srgbClr val="1C3A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0" y="2489200"/>
            <a:ext cx="2857500" cy="277495"/>
          </a:xfrm>
          <a:prstGeom prst="rect">
            <a:avLst/>
          </a:prstGeom>
          <a:noFill/>
        </p:spPr>
        <p:txBody>
          <a:bodyPr wrap="none" lIns="0" rIns="0" tIns="0" bIns="0" anchor="t">
            <a:spAutoFit/>
          </a:bodyPr>
          <a:lstStyle/>
          <a:p>
            <a:pPr algn="l">
              <a:lnSpc>
                <a:spcPts val="1784"/>
              </a:lnSpc>
              <a:spcBef>
                <a:spcPts val="0"/>
              </a:spcBef>
              <a:spcAft>
                <a:spcPts val="0"/>
              </a:spcAft>
            </a:pPr>
            <a:r>
              <a:rPr sz="1500" b="1">
                <a:solidFill>
                  <a:srgbClr val="7CDAC6"/>
                </a:solidFill>
                <a:latin typeface="Arial"/>
              </a:rPr>
              <a:t>03</a:t>
            </a:r>
          </a:p>
        </p:txBody>
      </p:sp>
      <p:sp>
        <p:nvSpPr>
          <p:cNvPr id="15" name="TextBox 14"/>
          <p:cNvSpPr txBox="1"/>
          <p:nvPr/>
        </p:nvSpPr>
        <p:spPr>
          <a:xfrm>
            <a:off x="8382000" y="2946400"/>
            <a:ext cx="2908300" cy="398398"/>
          </a:xfrm>
          <a:prstGeom prst="rect">
            <a:avLst/>
          </a:prstGeom>
          <a:noFill/>
        </p:spPr>
        <p:txBody>
          <a:bodyPr wrap="none" lIns="0" rIns="0" tIns="0" bIns="0" anchor="t">
            <a:spAutoFit/>
          </a:bodyPr>
          <a:lstStyle/>
          <a:p>
            <a:pPr algn="l">
              <a:lnSpc>
                <a:spcPts val="2736"/>
              </a:lnSpc>
              <a:spcBef>
                <a:spcPts val="0"/>
              </a:spcBef>
              <a:spcAft>
                <a:spcPts val="0"/>
              </a:spcAft>
            </a:pPr>
            <a:r>
              <a:rPr sz="2300" b="1">
                <a:solidFill>
                  <a:srgbClr val="FFFFFF"/>
                </a:solidFill>
                <a:latin typeface="Arial"/>
              </a:rPr>
              <a:t>Measure the full cost</a:t>
            </a:r>
          </a:p>
        </p:txBody>
      </p:sp>
      <p:sp>
        <p:nvSpPr>
          <p:cNvPr id="16" name="TextBox 15"/>
          <p:cNvSpPr txBox="1"/>
          <p:nvPr/>
        </p:nvSpPr>
        <p:spPr>
          <a:xfrm>
            <a:off x="8382000" y="3898900"/>
            <a:ext cx="2895600" cy="776224"/>
          </a:xfrm>
          <a:prstGeom prst="rect">
            <a:avLst/>
          </a:prstGeom>
          <a:noFill/>
        </p:spPr>
        <p:txBody>
          <a:bodyPr wrap="none" lIns="0" rIns="0" tIns="0" bIns="0" anchor="t">
            <a:spAutoFit/>
          </a:bodyPr>
          <a:lstStyle/>
          <a:p>
            <a:pPr algn="l">
              <a:lnSpc>
                <a:spcPts val="1904"/>
              </a:lnSpc>
              <a:spcBef>
                <a:spcPts val="0"/>
              </a:spcBef>
              <a:spcAft>
                <a:spcPts val="0"/>
              </a:spcAft>
            </a:pPr>
            <a:r>
              <a:rPr sz="1600" b="0">
                <a:solidFill>
                  <a:srgbClr val="D4E2E4"/>
                </a:solidFill>
                <a:latin typeface="Arial"/>
              </a:rPr>
              <a:t>Check identical behavior.</a:t>
            </a:r>
          </a:p>
          <a:p>
            <a:pPr algn="l">
              <a:lnSpc>
                <a:spcPts val="1904"/>
              </a:lnSpc>
              <a:spcBef>
                <a:spcPts val="0"/>
              </a:spcBef>
              <a:spcAft>
                <a:spcPts val="0"/>
              </a:spcAft>
            </a:pPr>
            <a:r>
              <a:rPr sz="1600" b="0">
                <a:solidFill>
                  <a:srgbClr val="D4E2E4"/>
                </a:solidFill>
                <a:latin typeface="Arial"/>
              </a:rPr>
              <a:t>Include inspection overhead.</a:t>
            </a:r>
          </a:p>
          <a:p>
            <a:pPr algn="l">
              <a:lnSpc>
                <a:spcPts val="1904"/>
              </a:lnSpc>
              <a:spcBef>
                <a:spcPts val="0"/>
              </a:spcBef>
              <a:spcAft>
                <a:spcPts val="0"/>
              </a:spcAft>
            </a:pPr>
            <a:r>
              <a:rPr sz="1600" b="0">
                <a:solidFill>
                  <a:srgbClr val="D4E2E4"/>
                </a:solidFill>
                <a:latin typeface="Arial"/>
              </a:rPr>
              <a:t>Find when it pays off.</a:t>
            </a:r>
          </a:p>
        </p:txBody>
      </p:sp>
      <p:sp>
        <p:nvSpPr>
          <p:cNvPr id="17" name="TextBox 16"/>
          <p:cNvSpPr txBox="1"/>
          <p:nvPr/>
        </p:nvSpPr>
        <p:spPr>
          <a:xfrm>
            <a:off x="660400" y="5422900"/>
            <a:ext cx="10871200" cy="247269"/>
          </a:xfrm>
          <a:prstGeom prst="rect">
            <a:avLst/>
          </a:prstGeom>
          <a:noFill/>
        </p:spPr>
        <p:txBody>
          <a:bodyPr wrap="none" lIns="0" rIns="0" tIns="0" bIns="0" anchor="t">
            <a:spAutoFit/>
          </a:bodyPr>
          <a:lstStyle/>
          <a:p>
            <a:pPr algn="l">
              <a:lnSpc>
                <a:spcPts val="1547"/>
              </a:lnSpc>
              <a:spcBef>
                <a:spcPts val="0"/>
              </a:spcBef>
              <a:spcAft>
                <a:spcPts val="0"/>
              </a:spcAft>
            </a:pPr>
            <a:r>
              <a:rPr sz="1300" b="1">
                <a:solidFill>
                  <a:srgbClr val="7CDAC6"/>
                </a:solidFill>
                <a:latin typeface="Arial"/>
              </a:rPr>
              <a:t>The contribution to establish</a:t>
            </a:r>
          </a:p>
        </p:txBody>
      </p:sp>
      <p:sp>
        <p:nvSpPr>
          <p:cNvPr id="18" name="TextBox 17"/>
          <p:cNvSpPr txBox="1"/>
          <p:nvPr/>
        </p:nvSpPr>
        <p:spPr>
          <a:xfrm>
            <a:off x="660400" y="5676900"/>
            <a:ext cx="10871200" cy="681736"/>
          </a:xfrm>
          <a:prstGeom prst="rect">
            <a:avLst/>
          </a:prstGeom>
          <a:noFill/>
        </p:spPr>
        <p:txBody>
          <a:bodyPr wrap="none" lIns="0" rIns="0" tIns="0" bIns="0" anchor="t">
            <a:spAutoFit/>
          </a:bodyPr>
          <a:lstStyle/>
          <a:p>
            <a:pPr algn="l">
              <a:lnSpc>
                <a:spcPts val="2484"/>
              </a:lnSpc>
              <a:spcBef>
                <a:spcPts val="0"/>
              </a:spcBef>
              <a:spcAft>
                <a:spcPts val="0"/>
              </a:spcAft>
            </a:pPr>
            <a:r>
              <a:rPr sz="2300" b="1">
                <a:solidFill>
                  <a:srgbClr val="FFFFFF"/>
                </a:solidFill>
                <a:latin typeface="Arial"/>
              </a:rPr>
              <a:t>Use graph syntax to generate dependency inspection,</a:t>
            </a:r>
          </a:p>
          <a:p>
            <a:pPr algn="l">
              <a:lnSpc>
                <a:spcPts val="2484"/>
              </a:lnSpc>
              <a:spcBef>
                <a:spcPts val="0"/>
              </a:spcBef>
              <a:spcAft>
                <a:spcPts val="0"/>
              </a:spcAft>
            </a:pPr>
            <a:r>
              <a:rPr sz="2300" b="1">
                <a:solidFill>
                  <a:srgbClr val="FFFFFF"/>
                </a:solidFill>
                <a:latin typeface="Arial"/>
              </a:rPr>
              <a:t>then schedule ability calls before their bodies run.</a:t>
            </a:r>
          </a:p>
        </p:txBody>
      </p:sp>
      <p:cxnSp>
        <p:nvCxnSpPr>
          <p:cNvPr id="19" name="Connector 18"/>
          <p:cNvCxnSpPr/>
          <p:nvPr/>
        </p:nvCxnSpPr>
        <p:spPr>
          <a:xfrm>
            <a:off x="660400" y="6388100"/>
            <a:ext cx="10871200" cy="0"/>
          </a:xfrm>
          <a:prstGeom prst="line">
            <a:avLst/>
          </a:prstGeom>
          <a:ln w="8890">
            <a:solidFill>
              <a:srgbClr val="34505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D4E2E4"/>
                </a:solidFill>
                <a:latin typeface="Arial"/>
              </a:rPr>
              <a:t>JAC  /  QUERY-DERIVED DEPENDENCIES</a:t>
            </a:r>
          </a:p>
        </p:txBody>
      </p:sp>
      <p:sp>
        <p:nvSpPr>
          <p:cNvPr id="21" name="TextBox 20"/>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7CDAC6"/>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APPENDIX A / POSITIONING</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Inspection before execution has clear precedents.</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The candidate contribution is automatic extraction from Jac, with its ordered walker behavior.</a:t>
            </a:r>
          </a:p>
        </p:txBody>
      </p:sp>
      <p:cxnSp>
        <p:nvCxnSpPr>
          <p:cNvPr id="5" name="Connector 4"/>
          <p:cNvCxnSpPr/>
          <p:nvPr/>
        </p:nvCxnSpPr>
        <p:spPr>
          <a:xfrm>
            <a:off x="660400" y="2133600"/>
            <a:ext cx="10871200" cy="0"/>
          </a:xfrm>
          <a:prstGeom prst="line">
            <a:avLst/>
          </a:prstGeom>
          <a:ln w="12700">
            <a:solidFill>
              <a:srgbClr val="D7E0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0400" y="2273300"/>
            <a:ext cx="41656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142C3B"/>
                </a:solidFill>
                <a:latin typeface="Arial"/>
                <a:hlinkClick r:id="rId2"/>
              </a:rPr>
              <a:t>Runtime preprocessing</a:t>
            </a:r>
          </a:p>
        </p:txBody>
      </p:sp>
      <p:sp>
        <p:nvSpPr>
          <p:cNvPr id="7" name="TextBox 6"/>
          <p:cNvSpPr txBox="1"/>
          <p:nvPr/>
        </p:nvSpPr>
        <p:spPr>
          <a:xfrm>
            <a:off x="660400" y="2717800"/>
            <a:ext cx="4343400" cy="232156"/>
          </a:xfrm>
          <a:prstGeom prst="rect">
            <a:avLst/>
          </a:prstGeom>
          <a:noFill/>
        </p:spPr>
        <p:txBody>
          <a:bodyPr wrap="none" lIns="0" rIns="0" tIns="0" bIns="0" anchor="t">
            <a:spAutoFit/>
          </a:bodyPr>
          <a:lstStyle/>
          <a:p>
            <a:pPr algn="l">
              <a:lnSpc>
                <a:spcPts val="1428"/>
              </a:lnSpc>
              <a:spcBef>
                <a:spcPts val="0"/>
              </a:spcBef>
              <a:spcAft>
                <a:spcPts val="0"/>
              </a:spcAft>
            </a:pPr>
            <a:r>
              <a:rPr sz="1200" b="0">
                <a:solidFill>
                  <a:srgbClr val="576C78"/>
                </a:solidFill>
                <a:latin typeface="Arial"/>
                <a:hlinkClick r:id="rId2"/>
              </a:rPr>
              <a:t>Saltz, Berryman &amp; Wu · 1991</a:t>
            </a:r>
          </a:p>
        </p:txBody>
      </p:sp>
      <p:sp>
        <p:nvSpPr>
          <p:cNvPr id="8" name="TextBox 7"/>
          <p:cNvSpPr txBox="1"/>
          <p:nvPr/>
        </p:nvSpPr>
        <p:spPr>
          <a:xfrm>
            <a:off x="5295900" y="2311400"/>
            <a:ext cx="6172200" cy="594868"/>
          </a:xfrm>
          <a:prstGeom prst="rect">
            <a:avLst/>
          </a:prstGeom>
          <a:noFill/>
        </p:spPr>
        <p:txBody>
          <a:bodyPr wrap="none" lIns="0" rIns="0" tIns="0" bIns="0" anchor="t">
            <a:spAutoFit/>
          </a:bodyPr>
          <a:lstStyle/>
          <a:p>
            <a:pPr algn="l">
              <a:lnSpc>
                <a:spcPts val="2142"/>
              </a:lnSpc>
              <a:spcBef>
                <a:spcPts val="0"/>
              </a:spcBef>
              <a:spcAft>
                <a:spcPts val="0"/>
              </a:spcAft>
            </a:pPr>
            <a:r>
              <a:rPr sz="1800" b="0">
                <a:solidFill>
                  <a:srgbClr val="142C3B"/>
                </a:solidFill>
                <a:latin typeface="Arial"/>
              </a:rPr>
              <a:t>Compiler-generated runtime preprocessing can help expose</a:t>
            </a:r>
          </a:p>
          <a:p>
            <a:pPr algn="l">
              <a:lnSpc>
                <a:spcPts val="2142"/>
              </a:lnSpc>
              <a:spcBef>
                <a:spcPts val="0"/>
              </a:spcBef>
              <a:spcAft>
                <a:spcPts val="0"/>
              </a:spcAft>
            </a:pPr>
            <a:r>
              <a:rPr sz="1800" b="0">
                <a:solidFill>
                  <a:srgbClr val="142C3B"/>
                </a:solidFill>
                <a:latin typeface="Arial"/>
              </a:rPr>
              <a:t>parallel work.</a:t>
            </a:r>
          </a:p>
        </p:txBody>
      </p:sp>
      <p:cxnSp>
        <p:nvCxnSpPr>
          <p:cNvPr id="9" name="Connector 8"/>
          <p:cNvCxnSpPr/>
          <p:nvPr/>
        </p:nvCxnSpPr>
        <p:spPr>
          <a:xfrm>
            <a:off x="660400" y="3289300"/>
            <a:ext cx="10871200" cy="0"/>
          </a:xfrm>
          <a:prstGeom prst="line">
            <a:avLst/>
          </a:prstGeom>
          <a:ln w="12700">
            <a:solidFill>
              <a:srgbClr val="D7E0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0400" y="3429000"/>
            <a:ext cx="41656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142C3B"/>
                </a:solidFill>
                <a:latin typeface="Arial"/>
                <a:hlinkClick r:id="rId3"/>
              </a:rPr>
              <a:t>Galois</a:t>
            </a:r>
          </a:p>
        </p:txBody>
      </p:sp>
      <p:sp>
        <p:nvSpPr>
          <p:cNvPr id="11" name="TextBox 10"/>
          <p:cNvSpPr txBox="1"/>
          <p:nvPr/>
        </p:nvSpPr>
        <p:spPr>
          <a:xfrm>
            <a:off x="660400" y="3873500"/>
            <a:ext cx="4343400" cy="232156"/>
          </a:xfrm>
          <a:prstGeom prst="rect">
            <a:avLst/>
          </a:prstGeom>
          <a:noFill/>
        </p:spPr>
        <p:txBody>
          <a:bodyPr wrap="none" lIns="0" rIns="0" tIns="0" bIns="0" anchor="t">
            <a:spAutoFit/>
          </a:bodyPr>
          <a:lstStyle/>
          <a:p>
            <a:pPr algn="l">
              <a:lnSpc>
                <a:spcPts val="1428"/>
              </a:lnSpc>
              <a:spcBef>
                <a:spcPts val="0"/>
              </a:spcBef>
              <a:spcAft>
                <a:spcPts val="0"/>
              </a:spcAft>
            </a:pPr>
            <a:r>
              <a:rPr sz="1200" b="0">
                <a:solidFill>
                  <a:srgbClr val="576C78"/>
                </a:solidFill>
                <a:latin typeface="Arial"/>
                <a:hlinkClick r:id="rId3"/>
              </a:rPr>
              <a:t>Kulkarni et al. · PLDI 2007</a:t>
            </a:r>
          </a:p>
        </p:txBody>
      </p:sp>
      <p:sp>
        <p:nvSpPr>
          <p:cNvPr id="12" name="TextBox 11"/>
          <p:cNvSpPr txBox="1"/>
          <p:nvPr/>
        </p:nvSpPr>
        <p:spPr>
          <a:xfrm>
            <a:off x="5295900" y="3467100"/>
            <a:ext cx="6172200" cy="594868"/>
          </a:xfrm>
          <a:prstGeom prst="rect">
            <a:avLst/>
          </a:prstGeom>
          <a:noFill/>
        </p:spPr>
        <p:txBody>
          <a:bodyPr wrap="none" lIns="0" rIns="0" tIns="0" bIns="0" anchor="t">
            <a:spAutoFit/>
          </a:bodyPr>
          <a:lstStyle/>
          <a:p>
            <a:pPr algn="l">
              <a:lnSpc>
                <a:spcPts val="2142"/>
              </a:lnSpc>
              <a:spcBef>
                <a:spcPts val="0"/>
              </a:spcBef>
              <a:spcAft>
                <a:spcPts val="0"/>
              </a:spcAft>
            </a:pPr>
            <a:r>
              <a:rPr sz="1800" b="0">
                <a:solidFill>
                  <a:srgbClr val="142C3B"/>
                </a:solidFill>
                <a:latin typeface="Arial"/>
              </a:rPr>
              <a:t>Abstractions and runtime conflict detection expose</a:t>
            </a:r>
          </a:p>
          <a:p>
            <a:pPr algn="l">
              <a:lnSpc>
                <a:spcPts val="2142"/>
              </a:lnSpc>
              <a:spcBef>
                <a:spcPts val="0"/>
              </a:spcBef>
              <a:spcAft>
                <a:spcPts val="0"/>
              </a:spcAft>
            </a:pPr>
            <a:r>
              <a:rPr sz="1800" b="0">
                <a:solidFill>
                  <a:srgbClr val="142C3B"/>
                </a:solidFill>
                <a:latin typeface="Arial"/>
              </a:rPr>
              <a:t>parallelism in irregular programs.</a:t>
            </a:r>
          </a:p>
        </p:txBody>
      </p:sp>
      <p:cxnSp>
        <p:nvCxnSpPr>
          <p:cNvPr id="13" name="Connector 12"/>
          <p:cNvCxnSpPr/>
          <p:nvPr/>
        </p:nvCxnSpPr>
        <p:spPr>
          <a:xfrm>
            <a:off x="660400" y="4445000"/>
            <a:ext cx="10871200" cy="0"/>
          </a:xfrm>
          <a:prstGeom prst="line">
            <a:avLst/>
          </a:prstGeom>
          <a:ln w="12700">
            <a:solidFill>
              <a:srgbClr val="D7E0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0400" y="4584700"/>
            <a:ext cx="4165600" cy="368173"/>
          </a:xfrm>
          <a:prstGeom prst="rect">
            <a:avLst/>
          </a:prstGeom>
          <a:noFill/>
        </p:spPr>
        <p:txBody>
          <a:bodyPr wrap="none" lIns="0" rIns="0" tIns="0" bIns="0" anchor="t">
            <a:spAutoFit/>
          </a:bodyPr>
          <a:lstStyle/>
          <a:p>
            <a:pPr algn="l">
              <a:lnSpc>
                <a:spcPts val="2499"/>
              </a:lnSpc>
              <a:spcBef>
                <a:spcPts val="0"/>
              </a:spcBef>
              <a:spcAft>
                <a:spcPts val="0"/>
              </a:spcAft>
            </a:pPr>
            <a:r>
              <a:rPr sz="2100" b="1">
                <a:solidFill>
                  <a:srgbClr val="142C3B"/>
                </a:solidFill>
                <a:latin typeface="Arial"/>
                <a:hlinkClick r:id="rId4"/>
              </a:rPr>
              <a:t>Legion</a:t>
            </a:r>
          </a:p>
        </p:txBody>
      </p:sp>
      <p:sp>
        <p:nvSpPr>
          <p:cNvPr id="15" name="TextBox 14"/>
          <p:cNvSpPr txBox="1"/>
          <p:nvPr/>
        </p:nvSpPr>
        <p:spPr>
          <a:xfrm>
            <a:off x="660400" y="5029200"/>
            <a:ext cx="4343400" cy="232156"/>
          </a:xfrm>
          <a:prstGeom prst="rect">
            <a:avLst/>
          </a:prstGeom>
          <a:noFill/>
        </p:spPr>
        <p:txBody>
          <a:bodyPr wrap="none" lIns="0" rIns="0" tIns="0" bIns="0" anchor="t">
            <a:spAutoFit/>
          </a:bodyPr>
          <a:lstStyle/>
          <a:p>
            <a:pPr algn="l">
              <a:lnSpc>
                <a:spcPts val="1428"/>
              </a:lnSpc>
              <a:spcBef>
                <a:spcPts val="0"/>
              </a:spcBef>
              <a:spcAft>
                <a:spcPts val="0"/>
              </a:spcAft>
            </a:pPr>
            <a:r>
              <a:rPr sz="1200" b="0">
                <a:solidFill>
                  <a:srgbClr val="576C78"/>
                </a:solidFill>
                <a:latin typeface="Arial"/>
                <a:hlinkClick r:id="rId4"/>
              </a:rPr>
              <a:t>Bauer et al. · SC 2012</a:t>
            </a:r>
          </a:p>
        </p:txBody>
      </p:sp>
      <p:sp>
        <p:nvSpPr>
          <p:cNvPr id="16" name="TextBox 15"/>
          <p:cNvSpPr txBox="1"/>
          <p:nvPr/>
        </p:nvSpPr>
        <p:spPr>
          <a:xfrm>
            <a:off x="5295900" y="4622800"/>
            <a:ext cx="6172200" cy="594868"/>
          </a:xfrm>
          <a:prstGeom prst="rect">
            <a:avLst/>
          </a:prstGeom>
          <a:noFill/>
        </p:spPr>
        <p:txBody>
          <a:bodyPr wrap="none" lIns="0" rIns="0" tIns="0" bIns="0" anchor="t">
            <a:spAutoFit/>
          </a:bodyPr>
          <a:lstStyle/>
          <a:p>
            <a:pPr algn="l">
              <a:lnSpc>
                <a:spcPts val="2142"/>
              </a:lnSpc>
              <a:spcBef>
                <a:spcPts val="0"/>
              </a:spcBef>
              <a:spcAft>
                <a:spcPts val="0"/>
              </a:spcAft>
            </a:pPr>
            <a:r>
              <a:rPr sz="1800" b="0">
                <a:solidFill>
                  <a:srgbClr val="142C3B"/>
                </a:solidFill>
                <a:latin typeface="Arial"/>
              </a:rPr>
              <a:t>Logical regions and access privileges provide dependence</a:t>
            </a:r>
          </a:p>
          <a:p>
            <a:pPr algn="l">
              <a:lnSpc>
                <a:spcPts val="2142"/>
              </a:lnSpc>
              <a:spcBef>
                <a:spcPts val="0"/>
              </a:spcBef>
              <a:spcAft>
                <a:spcPts val="0"/>
              </a:spcAft>
            </a:pPr>
            <a:r>
              <a:rPr sz="1800" b="0">
                <a:solidFill>
                  <a:srgbClr val="142C3B"/>
                </a:solidFill>
                <a:latin typeface="Arial"/>
              </a:rPr>
              <a:t>information for task scheduling.</a:t>
            </a:r>
          </a:p>
        </p:txBody>
      </p:sp>
      <p:sp>
        <p:nvSpPr>
          <p:cNvPr id="17" name="Rectangle 16"/>
          <p:cNvSpPr/>
          <p:nvPr/>
        </p:nvSpPr>
        <p:spPr>
          <a:xfrm>
            <a:off x="660400" y="5778500"/>
            <a:ext cx="10871200" cy="457200"/>
          </a:xfrm>
          <a:prstGeom prst="rect">
            <a:avLst/>
          </a:prstGeom>
          <a:solidFill>
            <a:srgbClr val="E0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 y="5918200"/>
            <a:ext cx="10617200" cy="277495"/>
          </a:xfrm>
          <a:prstGeom prst="rect">
            <a:avLst/>
          </a:prstGeom>
          <a:noFill/>
        </p:spPr>
        <p:txBody>
          <a:bodyPr wrap="none" lIns="0" rIns="0" tIns="0" bIns="0" anchor="t">
            <a:spAutoFit/>
          </a:bodyPr>
          <a:lstStyle/>
          <a:p>
            <a:pPr algn="l">
              <a:lnSpc>
                <a:spcPts val="1784"/>
              </a:lnSpc>
              <a:spcBef>
                <a:spcPts val="0"/>
              </a:spcBef>
              <a:spcAft>
                <a:spcPts val="0"/>
              </a:spcAft>
            </a:pPr>
            <a:r>
              <a:rPr sz="1500" b="1">
                <a:solidFill>
                  <a:srgbClr val="008577"/>
                </a:solidFill>
                <a:latin typeface="Arial"/>
              </a:rPr>
              <a:t>Inspect first, execute second. Study what Jac can extract automatically, and at what cost.</a:t>
            </a:r>
          </a:p>
        </p:txBody>
      </p:sp>
      <p:cxnSp>
        <p:nvCxnSpPr>
          <p:cNvPr id="19" name="Connector 18"/>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  /  APPENDIX</a:t>
            </a:r>
          </a:p>
        </p:txBody>
      </p:sp>
      <p:sp>
        <p:nvSpPr>
          <p:cNvPr id="21" name="TextBox 20"/>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660400" y="355600"/>
            <a:ext cx="10795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008577"/>
                </a:solidFill>
                <a:latin typeface="Arial"/>
              </a:rPr>
              <a:t>APPENDIX B / EVIDENCE AND STATUS</a:t>
            </a:r>
          </a:p>
        </p:txBody>
      </p:sp>
      <p:sp>
        <p:nvSpPr>
          <p:cNvPr id="3" name="TextBox 2"/>
          <p:cNvSpPr txBox="1"/>
          <p:nvPr/>
        </p:nvSpPr>
        <p:spPr>
          <a:xfrm>
            <a:off x="660400" y="749300"/>
            <a:ext cx="10871200" cy="497840"/>
          </a:xfrm>
          <a:prstGeom prst="rect">
            <a:avLst/>
          </a:prstGeom>
          <a:noFill/>
        </p:spPr>
        <p:txBody>
          <a:bodyPr wrap="none" lIns="0" rIns="0" tIns="0" bIns="0" anchor="t">
            <a:spAutoFit/>
          </a:bodyPr>
          <a:lstStyle/>
          <a:p>
            <a:pPr algn="l">
              <a:lnSpc>
                <a:spcPts val="3520"/>
              </a:lnSpc>
              <a:spcBef>
                <a:spcPts val="0"/>
              </a:spcBef>
              <a:spcAft>
                <a:spcPts val="0"/>
              </a:spcAft>
            </a:pPr>
            <a:r>
              <a:rPr sz="3200" b="1">
                <a:solidFill>
                  <a:srgbClr val="142C3B"/>
                </a:solidFill>
                <a:latin typeface="Arial"/>
              </a:rPr>
              <a:t>The current prototype is the experimental baseline.</a:t>
            </a:r>
          </a:p>
        </p:txBody>
      </p:sp>
      <p:sp>
        <p:nvSpPr>
          <p:cNvPr id="4" name="TextBox 3"/>
          <p:cNvSpPr txBox="1"/>
          <p:nvPr/>
        </p:nvSpPr>
        <p:spPr>
          <a:xfrm>
            <a:off x="660400" y="1473200"/>
            <a:ext cx="10871200" cy="307721"/>
          </a:xfrm>
          <a:prstGeom prst="rect">
            <a:avLst/>
          </a:prstGeom>
          <a:noFill/>
        </p:spPr>
        <p:txBody>
          <a:bodyPr wrap="none" lIns="0" rIns="0" tIns="0" bIns="0" anchor="t">
            <a:spAutoFit/>
          </a:bodyPr>
          <a:lstStyle/>
          <a:p>
            <a:pPr algn="l">
              <a:lnSpc>
                <a:spcPts val="2023"/>
              </a:lnSpc>
              <a:spcBef>
                <a:spcPts val="0"/>
              </a:spcBef>
              <a:spcAft>
                <a:spcPts val="0"/>
              </a:spcAft>
            </a:pPr>
            <a:r>
              <a:rPr sz="1700" b="0">
                <a:solidFill>
                  <a:srgbClr val="576C78"/>
                </a:solidFill>
                <a:latin typeface="Arial"/>
              </a:rPr>
              <a:t>Existing native walker speculation provides an execution substrate and a serial reference.</a:t>
            </a:r>
          </a:p>
        </p:txBody>
      </p:sp>
      <p:sp>
        <p:nvSpPr>
          <p:cNvPr id="5" name="TextBox 4"/>
          <p:cNvSpPr txBox="1"/>
          <p:nvPr/>
        </p:nvSpPr>
        <p:spPr>
          <a:xfrm>
            <a:off x="660400" y="2209800"/>
            <a:ext cx="4737100" cy="413512"/>
          </a:xfrm>
          <a:prstGeom prst="rect">
            <a:avLst/>
          </a:prstGeom>
          <a:noFill/>
        </p:spPr>
        <p:txBody>
          <a:bodyPr wrap="none" lIns="0" rIns="0" tIns="0" bIns="0" anchor="t">
            <a:spAutoFit/>
          </a:bodyPr>
          <a:lstStyle/>
          <a:p>
            <a:pPr algn="l">
              <a:lnSpc>
                <a:spcPts val="2856"/>
              </a:lnSpc>
              <a:spcBef>
                <a:spcPts val="0"/>
              </a:spcBef>
              <a:spcAft>
                <a:spcPts val="0"/>
              </a:spcAft>
            </a:pPr>
            <a:r>
              <a:rPr sz="2400" b="1">
                <a:solidFill>
                  <a:srgbClr val="008577"/>
                </a:solidFill>
                <a:latin typeface="Arial"/>
              </a:rPr>
              <a:t>Implemented</a:t>
            </a:r>
          </a:p>
        </p:txBody>
      </p:sp>
      <p:sp>
        <p:nvSpPr>
          <p:cNvPr id="6" name="TextBox 5"/>
          <p:cNvSpPr txBox="1"/>
          <p:nvPr/>
        </p:nvSpPr>
        <p:spPr>
          <a:xfrm>
            <a:off x="660400" y="2755900"/>
            <a:ext cx="4826000" cy="95757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Arial"/>
              </a:rPr>
              <a:t>Opt-in speculative entry abilities</a:t>
            </a:r>
          </a:p>
          <a:p>
            <a:pPr algn="l">
              <a:lnSpc>
                <a:spcPts val="2379"/>
              </a:lnSpc>
              <a:spcBef>
                <a:spcPts val="0"/>
              </a:spcBef>
              <a:spcAft>
                <a:spcPts val="0"/>
              </a:spcAft>
            </a:pPr>
            <a:r>
              <a:rPr sz="2000" b="0">
                <a:solidFill>
                  <a:srgbClr val="142C3B"/>
                </a:solidFill>
                <a:latin typeface="Arial"/>
              </a:rPr>
              <a:t>Buffered effects and ordered commit</a:t>
            </a:r>
          </a:p>
          <a:p>
            <a:pPr algn="l">
              <a:lnSpc>
                <a:spcPts val="2379"/>
              </a:lnSpc>
              <a:spcBef>
                <a:spcPts val="0"/>
              </a:spcBef>
              <a:spcAft>
                <a:spcPts val="0"/>
              </a:spcAft>
            </a:pPr>
            <a:r>
              <a:rPr sz="2000" b="0">
                <a:solidFill>
                  <a:srgbClr val="142C3B"/>
                </a:solidFill>
                <a:latin typeface="Arial"/>
              </a:rPr>
              <a:t>Serial fallback for unsupported effects</a:t>
            </a:r>
          </a:p>
        </p:txBody>
      </p:sp>
      <p:sp>
        <p:nvSpPr>
          <p:cNvPr id="7" name="TextBox 6"/>
          <p:cNvSpPr txBox="1"/>
          <p:nvPr/>
        </p:nvSpPr>
        <p:spPr>
          <a:xfrm>
            <a:off x="660400" y="4559300"/>
            <a:ext cx="4737100" cy="413512"/>
          </a:xfrm>
          <a:prstGeom prst="rect">
            <a:avLst/>
          </a:prstGeom>
          <a:noFill/>
        </p:spPr>
        <p:txBody>
          <a:bodyPr wrap="none" lIns="0" rIns="0" tIns="0" bIns="0" anchor="t">
            <a:spAutoFit/>
          </a:bodyPr>
          <a:lstStyle/>
          <a:p>
            <a:pPr algn="l">
              <a:lnSpc>
                <a:spcPts val="2856"/>
              </a:lnSpc>
              <a:spcBef>
                <a:spcPts val="0"/>
              </a:spcBef>
              <a:spcAft>
                <a:spcPts val="0"/>
              </a:spcAft>
            </a:pPr>
            <a:r>
              <a:rPr sz="2400" b="1">
                <a:solidFill>
                  <a:srgbClr val="3563B2"/>
                </a:solidFill>
                <a:latin typeface="Arial"/>
              </a:rPr>
              <a:t>Proposed</a:t>
            </a:r>
          </a:p>
        </p:txBody>
      </p:sp>
      <p:sp>
        <p:nvSpPr>
          <p:cNvPr id="8" name="TextBox 7"/>
          <p:cNvSpPr txBox="1"/>
          <p:nvPr/>
        </p:nvSpPr>
        <p:spPr>
          <a:xfrm>
            <a:off x="660400" y="5105400"/>
            <a:ext cx="4826000" cy="65531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Arial"/>
              </a:rPr>
              <a:t>Pre-execution query inspection</a:t>
            </a:r>
          </a:p>
          <a:p>
            <a:pPr algn="l">
              <a:lnSpc>
                <a:spcPts val="2379"/>
              </a:lnSpc>
              <a:spcBef>
                <a:spcPts val="0"/>
              </a:spcBef>
              <a:spcAft>
                <a:spcPts val="0"/>
              </a:spcAft>
            </a:pPr>
            <a:r>
              <a:rPr sz="2000" b="0">
                <a:solidFill>
                  <a:srgbClr val="142C3B"/>
                </a:solidFill>
                <a:latin typeface="Arial"/>
              </a:rPr>
              <a:t>and dependency-aware scheduling</a:t>
            </a:r>
          </a:p>
        </p:txBody>
      </p:sp>
      <p:sp>
        <p:nvSpPr>
          <p:cNvPr id="9" name="Rectangle 8"/>
          <p:cNvSpPr/>
          <p:nvPr/>
        </p:nvSpPr>
        <p:spPr>
          <a:xfrm>
            <a:off x="6032500" y="2184400"/>
            <a:ext cx="5499100" cy="3340100"/>
          </a:xfrm>
          <a:prstGeom prst="rect">
            <a:avLst/>
          </a:prstGeom>
          <a:solidFill>
            <a:srgbClr val="FFFFFF"/>
          </a:solidFill>
          <a:ln w="12700">
            <a:solidFill>
              <a:srgbClr val="D7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86500" y="2425700"/>
            <a:ext cx="4953000" cy="201929"/>
          </a:xfrm>
          <a:prstGeom prst="rect">
            <a:avLst/>
          </a:prstGeom>
          <a:noFill/>
        </p:spPr>
        <p:txBody>
          <a:bodyPr wrap="none" lIns="0" rIns="0" tIns="0" bIns="0" anchor="t">
            <a:spAutoFit/>
          </a:bodyPr>
          <a:lstStyle/>
          <a:p>
            <a:pPr algn="l">
              <a:lnSpc>
                <a:spcPts val="1189"/>
              </a:lnSpc>
              <a:spcBef>
                <a:spcPts val="0"/>
              </a:spcBef>
              <a:spcAft>
                <a:spcPts val="0"/>
              </a:spcAft>
            </a:pPr>
            <a:r>
              <a:rPr sz="1000" b="1">
                <a:solidFill>
                  <a:srgbClr val="576C78"/>
                </a:solidFill>
                <a:latin typeface="Arial"/>
              </a:rPr>
              <a:t>EXISTING CPU MICROBENCHMARK</a:t>
            </a:r>
          </a:p>
        </p:txBody>
      </p:sp>
      <p:sp>
        <p:nvSpPr>
          <p:cNvPr id="11" name="TextBox 10"/>
          <p:cNvSpPr txBox="1"/>
          <p:nvPr/>
        </p:nvSpPr>
        <p:spPr>
          <a:xfrm>
            <a:off x="6299200" y="2870200"/>
            <a:ext cx="1968500" cy="262382"/>
          </a:xfrm>
          <a:prstGeom prst="rect">
            <a:avLst/>
          </a:prstGeom>
          <a:noFill/>
        </p:spPr>
        <p:txBody>
          <a:bodyPr wrap="none" lIns="0" rIns="0" tIns="0" bIns="0" anchor="t">
            <a:spAutoFit/>
          </a:bodyPr>
          <a:lstStyle/>
          <a:p>
            <a:pPr algn="l">
              <a:lnSpc>
                <a:spcPts val="1666"/>
              </a:lnSpc>
              <a:spcBef>
                <a:spcPts val="0"/>
              </a:spcBef>
              <a:spcAft>
                <a:spcPts val="0"/>
              </a:spcAft>
            </a:pPr>
            <a:r>
              <a:rPr sz="1400" b="1">
                <a:solidFill>
                  <a:srgbClr val="576C78"/>
                </a:solidFill>
                <a:latin typeface="Arial"/>
              </a:rPr>
              <a:t>Mode</a:t>
            </a:r>
          </a:p>
        </p:txBody>
      </p:sp>
      <p:sp>
        <p:nvSpPr>
          <p:cNvPr id="12" name="TextBox 11"/>
          <p:cNvSpPr txBox="1"/>
          <p:nvPr/>
        </p:nvSpPr>
        <p:spPr>
          <a:xfrm>
            <a:off x="8394700" y="2870200"/>
            <a:ext cx="1130300" cy="262382"/>
          </a:xfrm>
          <a:prstGeom prst="rect">
            <a:avLst/>
          </a:prstGeom>
          <a:noFill/>
        </p:spPr>
        <p:txBody>
          <a:bodyPr wrap="none" lIns="0" rIns="0" tIns="0" bIns="0" anchor="t">
            <a:spAutoFit/>
          </a:bodyPr>
          <a:lstStyle/>
          <a:p>
            <a:pPr algn="r">
              <a:lnSpc>
                <a:spcPts val="1666"/>
              </a:lnSpc>
              <a:spcBef>
                <a:spcPts val="0"/>
              </a:spcBef>
              <a:spcAft>
                <a:spcPts val="0"/>
              </a:spcAft>
            </a:pPr>
            <a:r>
              <a:rPr sz="1400" b="1">
                <a:solidFill>
                  <a:srgbClr val="576C78"/>
                </a:solidFill>
                <a:latin typeface="Arial"/>
              </a:rPr>
              <a:t>Median</a:t>
            </a:r>
          </a:p>
        </p:txBody>
      </p:sp>
      <p:sp>
        <p:nvSpPr>
          <p:cNvPr id="13" name="TextBox 12"/>
          <p:cNvSpPr txBox="1"/>
          <p:nvPr/>
        </p:nvSpPr>
        <p:spPr>
          <a:xfrm>
            <a:off x="9817100" y="2870200"/>
            <a:ext cx="1422400" cy="262382"/>
          </a:xfrm>
          <a:prstGeom prst="rect">
            <a:avLst/>
          </a:prstGeom>
          <a:noFill/>
        </p:spPr>
        <p:txBody>
          <a:bodyPr wrap="none" lIns="0" rIns="0" tIns="0" bIns="0" anchor="t">
            <a:spAutoFit/>
          </a:bodyPr>
          <a:lstStyle/>
          <a:p>
            <a:pPr algn="r">
              <a:lnSpc>
                <a:spcPts val="1666"/>
              </a:lnSpc>
              <a:spcBef>
                <a:spcPts val="0"/>
              </a:spcBef>
              <a:spcAft>
                <a:spcPts val="0"/>
              </a:spcAft>
            </a:pPr>
            <a:r>
              <a:rPr sz="1400" b="1">
                <a:solidFill>
                  <a:srgbClr val="576C78"/>
                </a:solidFill>
                <a:latin typeface="Arial"/>
              </a:rPr>
              <a:t>Speedup</a:t>
            </a:r>
          </a:p>
        </p:txBody>
      </p:sp>
      <p:cxnSp>
        <p:nvCxnSpPr>
          <p:cNvPr id="14" name="Connector 13"/>
          <p:cNvCxnSpPr/>
          <p:nvPr/>
        </p:nvCxnSpPr>
        <p:spPr>
          <a:xfrm>
            <a:off x="6286500" y="3175000"/>
            <a:ext cx="4978400" cy="0"/>
          </a:xfrm>
          <a:prstGeom prst="line">
            <a:avLst/>
          </a:prstGeom>
          <a:ln w="10160">
            <a:solidFill>
              <a:srgbClr val="D7E0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99200" y="3302000"/>
            <a:ext cx="1943100" cy="35305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Arial"/>
              </a:rPr>
              <a:t>Serial / off</a:t>
            </a:r>
          </a:p>
        </p:txBody>
      </p:sp>
      <p:sp>
        <p:nvSpPr>
          <p:cNvPr id="16" name="TextBox 15"/>
          <p:cNvSpPr txBox="1"/>
          <p:nvPr/>
        </p:nvSpPr>
        <p:spPr>
          <a:xfrm>
            <a:off x="8280400" y="3302000"/>
            <a:ext cx="1308100" cy="353059"/>
          </a:xfrm>
          <a:prstGeom prst="rect">
            <a:avLst/>
          </a:prstGeom>
          <a:noFill/>
        </p:spPr>
        <p:txBody>
          <a:bodyPr wrap="none" lIns="0" rIns="0" tIns="0" bIns="0" anchor="t">
            <a:spAutoFit/>
          </a:bodyPr>
          <a:lstStyle/>
          <a:p>
            <a:pPr algn="r">
              <a:lnSpc>
                <a:spcPts val="2379"/>
              </a:lnSpc>
              <a:spcBef>
                <a:spcPts val="0"/>
              </a:spcBef>
              <a:spcAft>
                <a:spcPts val="0"/>
              </a:spcAft>
            </a:pPr>
            <a:r>
              <a:rPr sz="2000" b="0">
                <a:solidFill>
                  <a:srgbClr val="142C3B"/>
                </a:solidFill>
                <a:latin typeface="Arial"/>
              </a:rPr>
              <a:t>424 ms</a:t>
            </a:r>
          </a:p>
        </p:txBody>
      </p:sp>
      <p:sp>
        <p:nvSpPr>
          <p:cNvPr id="17" name="TextBox 16"/>
          <p:cNvSpPr txBox="1"/>
          <p:nvPr/>
        </p:nvSpPr>
        <p:spPr>
          <a:xfrm>
            <a:off x="9842500" y="3302000"/>
            <a:ext cx="1397000" cy="353059"/>
          </a:xfrm>
          <a:prstGeom prst="rect">
            <a:avLst/>
          </a:prstGeom>
          <a:noFill/>
        </p:spPr>
        <p:txBody>
          <a:bodyPr wrap="none" lIns="0" rIns="0" tIns="0" bIns="0" anchor="t">
            <a:spAutoFit/>
          </a:bodyPr>
          <a:lstStyle/>
          <a:p>
            <a:pPr algn="r">
              <a:lnSpc>
                <a:spcPts val="2379"/>
              </a:lnSpc>
              <a:spcBef>
                <a:spcPts val="0"/>
              </a:spcBef>
              <a:spcAft>
                <a:spcPts val="0"/>
              </a:spcAft>
            </a:pPr>
            <a:r>
              <a:rPr sz="2000" b="1">
                <a:solidFill>
                  <a:srgbClr val="142C3B"/>
                </a:solidFill>
                <a:latin typeface="Arial"/>
              </a:rPr>
              <a:t>1.00×</a:t>
            </a:r>
          </a:p>
        </p:txBody>
      </p:sp>
      <p:cxnSp>
        <p:nvCxnSpPr>
          <p:cNvPr id="18" name="Connector 17"/>
          <p:cNvCxnSpPr/>
          <p:nvPr/>
        </p:nvCxnSpPr>
        <p:spPr>
          <a:xfrm>
            <a:off x="6286500" y="3797300"/>
            <a:ext cx="4978400" cy="0"/>
          </a:xfrm>
          <a:prstGeom prst="line">
            <a:avLst/>
          </a:prstGeom>
          <a:ln w="10160">
            <a:solidFill>
              <a:srgbClr val="D7E0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99200" y="3924300"/>
            <a:ext cx="1943100" cy="353059"/>
          </a:xfrm>
          <a:prstGeom prst="rect">
            <a:avLst/>
          </a:prstGeom>
          <a:noFill/>
        </p:spPr>
        <p:txBody>
          <a:bodyPr wrap="none" lIns="0" rIns="0" tIns="0" bIns="0" anchor="t">
            <a:spAutoFit/>
          </a:bodyPr>
          <a:lstStyle/>
          <a:p>
            <a:pPr algn="l">
              <a:lnSpc>
                <a:spcPts val="2379"/>
              </a:lnSpc>
              <a:spcBef>
                <a:spcPts val="0"/>
              </a:spcBef>
              <a:spcAft>
                <a:spcPts val="0"/>
              </a:spcAft>
            </a:pPr>
            <a:r>
              <a:rPr sz="2000" b="0">
                <a:solidFill>
                  <a:srgbClr val="142C3B"/>
                </a:solidFill>
                <a:latin typeface="Arial"/>
              </a:rPr>
              <a:t>2 threads</a:t>
            </a:r>
          </a:p>
        </p:txBody>
      </p:sp>
      <p:sp>
        <p:nvSpPr>
          <p:cNvPr id="20" name="TextBox 19"/>
          <p:cNvSpPr txBox="1"/>
          <p:nvPr/>
        </p:nvSpPr>
        <p:spPr>
          <a:xfrm>
            <a:off x="8280400" y="3924300"/>
            <a:ext cx="1308100" cy="353059"/>
          </a:xfrm>
          <a:prstGeom prst="rect">
            <a:avLst/>
          </a:prstGeom>
          <a:noFill/>
        </p:spPr>
        <p:txBody>
          <a:bodyPr wrap="none" lIns="0" rIns="0" tIns="0" bIns="0" anchor="t">
            <a:spAutoFit/>
          </a:bodyPr>
          <a:lstStyle/>
          <a:p>
            <a:pPr algn="r">
              <a:lnSpc>
                <a:spcPts val="2379"/>
              </a:lnSpc>
              <a:spcBef>
                <a:spcPts val="0"/>
              </a:spcBef>
              <a:spcAft>
                <a:spcPts val="0"/>
              </a:spcAft>
            </a:pPr>
            <a:r>
              <a:rPr sz="2000" b="0">
                <a:solidFill>
                  <a:srgbClr val="142C3B"/>
                </a:solidFill>
                <a:latin typeface="Arial"/>
              </a:rPr>
              <a:t>341 ms</a:t>
            </a:r>
          </a:p>
        </p:txBody>
      </p:sp>
      <p:sp>
        <p:nvSpPr>
          <p:cNvPr id="21" name="TextBox 20"/>
          <p:cNvSpPr txBox="1"/>
          <p:nvPr/>
        </p:nvSpPr>
        <p:spPr>
          <a:xfrm>
            <a:off x="9842500" y="3924300"/>
            <a:ext cx="1397000" cy="353059"/>
          </a:xfrm>
          <a:prstGeom prst="rect">
            <a:avLst/>
          </a:prstGeom>
          <a:noFill/>
        </p:spPr>
        <p:txBody>
          <a:bodyPr wrap="none" lIns="0" rIns="0" tIns="0" bIns="0" anchor="t">
            <a:spAutoFit/>
          </a:bodyPr>
          <a:lstStyle/>
          <a:p>
            <a:pPr algn="r">
              <a:lnSpc>
                <a:spcPts val="2379"/>
              </a:lnSpc>
              <a:spcBef>
                <a:spcPts val="0"/>
              </a:spcBef>
              <a:spcAft>
                <a:spcPts val="0"/>
              </a:spcAft>
            </a:pPr>
            <a:r>
              <a:rPr sz="2000" b="1">
                <a:solidFill>
                  <a:srgbClr val="142C3B"/>
                </a:solidFill>
                <a:latin typeface="Arial"/>
              </a:rPr>
              <a:t>1.24×</a:t>
            </a:r>
          </a:p>
        </p:txBody>
      </p:sp>
      <p:cxnSp>
        <p:nvCxnSpPr>
          <p:cNvPr id="22" name="Connector 21"/>
          <p:cNvCxnSpPr/>
          <p:nvPr/>
        </p:nvCxnSpPr>
        <p:spPr>
          <a:xfrm>
            <a:off x="6286500" y="4419600"/>
            <a:ext cx="4978400" cy="0"/>
          </a:xfrm>
          <a:prstGeom prst="line">
            <a:avLst/>
          </a:prstGeom>
          <a:ln w="10160">
            <a:solidFill>
              <a:srgbClr val="D7E0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99200" y="4546600"/>
            <a:ext cx="1943100" cy="353059"/>
          </a:xfrm>
          <a:prstGeom prst="rect">
            <a:avLst/>
          </a:prstGeom>
          <a:noFill/>
        </p:spPr>
        <p:txBody>
          <a:bodyPr wrap="none" lIns="0" rIns="0" tIns="0" bIns="0" anchor="t">
            <a:spAutoFit/>
          </a:bodyPr>
          <a:lstStyle/>
          <a:p>
            <a:pPr algn="l">
              <a:lnSpc>
                <a:spcPts val="2379"/>
              </a:lnSpc>
              <a:spcBef>
                <a:spcPts val="0"/>
              </a:spcBef>
              <a:spcAft>
                <a:spcPts val="0"/>
              </a:spcAft>
            </a:pPr>
            <a:r>
              <a:rPr sz="2000" b="1">
                <a:solidFill>
                  <a:srgbClr val="008577"/>
                </a:solidFill>
                <a:latin typeface="Arial"/>
              </a:rPr>
              <a:t>4 threads</a:t>
            </a:r>
          </a:p>
        </p:txBody>
      </p:sp>
      <p:sp>
        <p:nvSpPr>
          <p:cNvPr id="24" name="TextBox 23"/>
          <p:cNvSpPr txBox="1"/>
          <p:nvPr/>
        </p:nvSpPr>
        <p:spPr>
          <a:xfrm>
            <a:off x="8280400" y="4546600"/>
            <a:ext cx="1308100" cy="353059"/>
          </a:xfrm>
          <a:prstGeom prst="rect">
            <a:avLst/>
          </a:prstGeom>
          <a:noFill/>
        </p:spPr>
        <p:txBody>
          <a:bodyPr wrap="none" lIns="0" rIns="0" tIns="0" bIns="0" anchor="t">
            <a:spAutoFit/>
          </a:bodyPr>
          <a:lstStyle/>
          <a:p>
            <a:pPr algn="r">
              <a:lnSpc>
                <a:spcPts val="2379"/>
              </a:lnSpc>
              <a:spcBef>
                <a:spcPts val="0"/>
              </a:spcBef>
              <a:spcAft>
                <a:spcPts val="0"/>
              </a:spcAft>
            </a:pPr>
            <a:r>
              <a:rPr sz="2000" b="1">
                <a:solidFill>
                  <a:srgbClr val="008577"/>
                </a:solidFill>
                <a:latin typeface="Arial"/>
              </a:rPr>
              <a:t>223 ms</a:t>
            </a:r>
          </a:p>
        </p:txBody>
      </p:sp>
      <p:sp>
        <p:nvSpPr>
          <p:cNvPr id="25" name="TextBox 24"/>
          <p:cNvSpPr txBox="1"/>
          <p:nvPr/>
        </p:nvSpPr>
        <p:spPr>
          <a:xfrm>
            <a:off x="9842500" y="4546600"/>
            <a:ext cx="1397000" cy="353059"/>
          </a:xfrm>
          <a:prstGeom prst="rect">
            <a:avLst/>
          </a:prstGeom>
          <a:noFill/>
        </p:spPr>
        <p:txBody>
          <a:bodyPr wrap="none" lIns="0" rIns="0" tIns="0" bIns="0" anchor="t">
            <a:spAutoFit/>
          </a:bodyPr>
          <a:lstStyle/>
          <a:p>
            <a:pPr algn="r">
              <a:lnSpc>
                <a:spcPts val="2379"/>
              </a:lnSpc>
              <a:spcBef>
                <a:spcPts val="0"/>
              </a:spcBef>
              <a:spcAft>
                <a:spcPts val="0"/>
              </a:spcAft>
            </a:pPr>
            <a:r>
              <a:rPr sz="2000" b="1">
                <a:solidFill>
                  <a:srgbClr val="008577"/>
                </a:solidFill>
                <a:latin typeface="Arial"/>
              </a:rPr>
              <a:t>1.90×</a:t>
            </a:r>
          </a:p>
        </p:txBody>
      </p:sp>
      <p:sp>
        <p:nvSpPr>
          <p:cNvPr id="26" name="TextBox 25"/>
          <p:cNvSpPr txBox="1"/>
          <p:nvPr/>
        </p:nvSpPr>
        <p:spPr>
          <a:xfrm>
            <a:off x="6286500" y="5181600"/>
            <a:ext cx="4953000" cy="232156"/>
          </a:xfrm>
          <a:prstGeom prst="rect">
            <a:avLst/>
          </a:prstGeom>
          <a:noFill/>
        </p:spPr>
        <p:txBody>
          <a:bodyPr wrap="none" lIns="0" rIns="0" tIns="0" bIns="0" anchor="t">
            <a:spAutoFit/>
          </a:bodyPr>
          <a:lstStyle/>
          <a:p>
            <a:pPr algn="l">
              <a:lnSpc>
                <a:spcPts val="1428"/>
              </a:lnSpc>
              <a:spcBef>
                <a:spcPts val="0"/>
              </a:spcBef>
              <a:spcAft>
                <a:spcPts val="0"/>
              </a:spcAft>
            </a:pPr>
            <a:r>
              <a:rPr sz="1200" b="0">
                <a:solidFill>
                  <a:srgbClr val="576C78"/>
                </a:solidFill>
                <a:latin typeface="Arial"/>
              </a:rPr>
              <a:t>16 independent tasks; identical output; 0 fallbacks.</a:t>
            </a:r>
          </a:p>
        </p:txBody>
      </p:sp>
      <p:sp>
        <p:nvSpPr>
          <p:cNvPr id="27" name="TextBox 26"/>
          <p:cNvSpPr txBox="1"/>
          <p:nvPr/>
        </p:nvSpPr>
        <p:spPr>
          <a:xfrm>
            <a:off x="660400" y="5791200"/>
            <a:ext cx="10871200" cy="262382"/>
          </a:xfrm>
          <a:prstGeom prst="rect">
            <a:avLst/>
          </a:prstGeom>
          <a:noFill/>
        </p:spPr>
        <p:txBody>
          <a:bodyPr wrap="none" lIns="0" rIns="0" tIns="0" bIns="0" anchor="t">
            <a:spAutoFit/>
          </a:bodyPr>
          <a:lstStyle/>
          <a:p>
            <a:pPr algn="l">
              <a:lnSpc>
                <a:spcPts val="1666"/>
              </a:lnSpc>
              <a:spcBef>
                <a:spcPts val="0"/>
              </a:spcBef>
              <a:spcAft>
                <a:spcPts val="0"/>
              </a:spcAft>
            </a:pPr>
            <a:r>
              <a:rPr sz="1400" b="0">
                <a:solidFill>
                  <a:srgbClr val="576C78"/>
                </a:solidFill>
                <a:latin typeface="Arial"/>
              </a:rPr>
              <a:t>Baseline measurement: 2 warm-ups, 7 timed runs; native AOT + RC; 16 logical CPUs.</a:t>
            </a:r>
          </a:p>
        </p:txBody>
      </p:sp>
      <p:sp>
        <p:nvSpPr>
          <p:cNvPr id="28" name="TextBox 27"/>
          <p:cNvSpPr txBox="1"/>
          <p:nvPr/>
        </p:nvSpPr>
        <p:spPr>
          <a:xfrm>
            <a:off x="660400" y="6096000"/>
            <a:ext cx="10871200" cy="247269"/>
          </a:xfrm>
          <a:prstGeom prst="rect">
            <a:avLst/>
          </a:prstGeom>
          <a:noFill/>
        </p:spPr>
        <p:txBody>
          <a:bodyPr wrap="none" lIns="0" rIns="0" tIns="0" bIns="0" anchor="t">
            <a:spAutoFit/>
          </a:bodyPr>
          <a:lstStyle/>
          <a:p>
            <a:pPr algn="l">
              <a:lnSpc>
                <a:spcPts val="1547"/>
              </a:lnSpc>
              <a:spcBef>
                <a:spcPts val="0"/>
              </a:spcBef>
              <a:spcAft>
                <a:spcPts val="0"/>
              </a:spcAft>
            </a:pPr>
            <a:r>
              <a:rPr sz="1300" b="0">
                <a:solidFill>
                  <a:srgbClr val="576C78"/>
                </a:solidFill>
                <a:latin typeface="Arial"/>
                <a:hlinkClick r:id="rId2"/>
              </a:rPr>
              <a:t>Pre-execution inspection remains unevaluated. Source: PR #9215 and bundled benchmark JSON.</a:t>
            </a:r>
          </a:p>
        </p:txBody>
      </p:sp>
      <p:cxnSp>
        <p:nvCxnSpPr>
          <p:cNvPr id="29" name="Connector 28"/>
          <p:cNvCxnSpPr/>
          <p:nvPr/>
        </p:nvCxnSpPr>
        <p:spPr>
          <a:xfrm>
            <a:off x="660400" y="6388100"/>
            <a:ext cx="10871200" cy="0"/>
          </a:xfrm>
          <a:prstGeom prst="line">
            <a:avLst/>
          </a:prstGeom>
          <a:ln w="8890">
            <a:solidFill>
              <a:srgbClr val="D7E0E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0400" y="6515100"/>
            <a:ext cx="9779000" cy="179260"/>
          </a:xfrm>
          <a:prstGeom prst="rect">
            <a:avLst/>
          </a:prstGeom>
          <a:noFill/>
        </p:spPr>
        <p:txBody>
          <a:bodyPr wrap="none" lIns="0" rIns="0" tIns="0" bIns="0" anchor="t">
            <a:spAutoFit/>
          </a:bodyPr>
          <a:lstStyle/>
          <a:p>
            <a:pPr algn="l">
              <a:lnSpc>
                <a:spcPts val="1011"/>
              </a:lnSpc>
              <a:spcBef>
                <a:spcPts val="0"/>
              </a:spcBef>
              <a:spcAft>
                <a:spcPts val="0"/>
              </a:spcAft>
            </a:pPr>
            <a:r>
              <a:rPr sz="850" b="0">
                <a:solidFill>
                  <a:srgbClr val="576C78"/>
                </a:solidFill>
                <a:latin typeface="Arial"/>
              </a:rPr>
              <a:t>JAC  /  QUERY-DERIVED DEPENDENCIES  /  APPENDIX</a:t>
            </a:r>
          </a:p>
        </p:txBody>
      </p:sp>
      <p:sp>
        <p:nvSpPr>
          <p:cNvPr id="31" name="TextBox 30"/>
          <p:cNvSpPr txBox="1"/>
          <p:nvPr/>
        </p:nvSpPr>
        <p:spPr>
          <a:xfrm>
            <a:off x="11087100" y="6477000"/>
            <a:ext cx="444500" cy="217043"/>
          </a:xfrm>
          <a:prstGeom prst="rect">
            <a:avLst/>
          </a:prstGeom>
          <a:noFill/>
        </p:spPr>
        <p:txBody>
          <a:bodyPr wrap="none" lIns="0" rIns="0" tIns="0" bIns="0" anchor="t">
            <a:spAutoFit/>
          </a:bodyPr>
          <a:lstStyle/>
          <a:p>
            <a:pPr algn="r">
              <a:lnSpc>
                <a:spcPts val="1309"/>
              </a:lnSpc>
              <a:spcBef>
                <a:spcPts val="0"/>
              </a:spcBef>
              <a:spcAft>
                <a:spcPts val="0"/>
              </a:spcAft>
            </a:pPr>
            <a:r>
              <a:rPr sz="1100" b="1">
                <a:solidFill>
                  <a:srgbClr val="008577"/>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Resolve Dependencies Before Abilities Run</dc:title>
  <dc:subject>Research proposal: pre-execution graph inspection and scheduling in Jac</dc:subject>
  <dc:creator/>
  <cp:keywords>Jac, graph queries, speculative execution, runtime dependencies</cp:keywords>
  <dc:description>8 main slides plus 2 appendix slides. Proposed mechanisms are explicitly identified.</dc:description>
  <cp:lastModifiedBy>Steve Canny</cp:lastModifiedBy>
  <cp:revision>1</cp:revision>
  <dcterms:created xsi:type="dcterms:W3CDTF">2013-01-27T09:14:16Z</dcterms:created>
  <dcterms:modified xsi:type="dcterms:W3CDTF">2013-01-27T09:15:58Z</dcterms:modified>
  <cp:category/>
</cp:coreProperties>
</file>